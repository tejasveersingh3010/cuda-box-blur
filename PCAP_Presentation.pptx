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handoutMasterIdLst>
    <p:handoutMasterId r:id="rId17"/>
  </p:handoutMasterIdLst>
  <p:sldIdLst>
    <p:sldId id="256" r:id="rId5"/>
    <p:sldId id="258" r:id="rId6"/>
    <p:sldId id="268" r:id="rId7"/>
    <p:sldId id="269" r:id="rId8"/>
    <p:sldId id="271" r:id="rId9"/>
    <p:sldId id="272" r:id="rId10"/>
    <p:sldId id="273" r:id="rId11"/>
    <p:sldId id="279" r:id="rId12"/>
    <p:sldId id="275" r:id="rId13"/>
    <p:sldId id="276" r:id="rId14"/>
    <p:sldId id="27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651CB4-DCCB-4A6C-BE60-9800D0A3E3D9}" v="691" dt="2026-04-08T17:49:33.4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FFC48A-40A8-4815-BA95-23178E6D294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ICICC-2021</a:t>
            </a:r>
          </a:p>
        </p:txBody>
      </p:sp>
      <p:sp>
        <p:nvSpPr>
          <p:cNvPr id="3" name="Date Placeholder 2">
            <a:extLst>
              <a:ext uri="{FF2B5EF4-FFF2-40B4-BE49-F238E27FC236}">
                <a16:creationId xmlns:a16="http://schemas.microsoft.com/office/drawing/2014/main" id="{030C60B8-AC82-45A9-82DA-49E3C3D8F38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92AD30-3EB1-44F3-99FC-CA174BE79D9D}" type="datetimeFigureOut">
              <a:rPr lang="en-IN" smtClean="0"/>
              <a:t>09-04-2026</a:t>
            </a:fld>
            <a:endParaRPr lang="en-IN"/>
          </a:p>
        </p:txBody>
      </p:sp>
      <p:sp>
        <p:nvSpPr>
          <p:cNvPr id="4" name="Footer Placeholder 3">
            <a:extLst>
              <a:ext uri="{FF2B5EF4-FFF2-40B4-BE49-F238E27FC236}">
                <a16:creationId xmlns:a16="http://schemas.microsoft.com/office/drawing/2014/main" id="{4B0A9232-31CD-406D-82AE-EA68BC6064E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23C2C502-FE3D-48CE-962A-D0C5905217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54DA78-81CE-4CDA-BCDF-F9A71A5A3A2B}" type="slidenum">
              <a:rPr lang="en-IN" smtClean="0"/>
              <a:t>‹#›</a:t>
            </a:fld>
            <a:endParaRPr lang="en-IN"/>
          </a:p>
        </p:txBody>
      </p:sp>
    </p:spTree>
    <p:extLst>
      <p:ext uri="{BB962C8B-B14F-4D97-AF65-F5344CB8AC3E}">
        <p14:creationId xmlns:p14="http://schemas.microsoft.com/office/powerpoint/2010/main" val="1579651629"/>
      </p:ext>
    </p:extLst>
  </p:cSld>
  <p:clrMap bg1="lt1" tx1="dk1" bg2="lt2" tx2="dk2" accent1="accent1" accent2="accent2" accent3="accent3" accent4="accent4" accent5="accent5" accent6="accent6" hlink="hlink" folHlink="folHlink"/>
  <p:hf sldNum="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ICICC-2021</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518E6E-0D61-4A63-AE58-B654B59B306F}" type="datetimeFigureOut">
              <a:rPr lang="en-IN" smtClean="0"/>
              <a:t>09-04-2026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1FFA8-44D0-41D2-B252-050984594A0C}" type="slidenum">
              <a:rPr lang="en-IN" smtClean="0"/>
              <a:t>‹#›</a:t>
            </a:fld>
            <a:endParaRPr lang="en-IN"/>
          </a:p>
        </p:txBody>
      </p:sp>
    </p:spTree>
    <p:extLst>
      <p:ext uri="{BB962C8B-B14F-4D97-AF65-F5344CB8AC3E}">
        <p14:creationId xmlns:p14="http://schemas.microsoft.com/office/powerpoint/2010/main" val="3827495634"/>
      </p:ext>
    </p:extLst>
  </p:cSld>
  <p:clrMap bg1="lt1" tx1="dk1" bg2="lt2" tx2="dk2" accent1="accent1" accent2="accent2" accent3="accent3" accent4="accent4" accent5="accent5" accent6="accent6" hlink="hlink" folHlink="folHlink"/>
  <p:hf sldNum="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AF19C-4D3B-4283-B632-5CFB8FB956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5E01616-88CA-4437-B1B8-62F6DEE62A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5F3850B-84AC-47FE-8838-BED318289AFF}"/>
              </a:ext>
            </a:extLst>
          </p:cNvPr>
          <p:cNvSpPr>
            <a:spLocks noGrp="1"/>
          </p:cNvSpPr>
          <p:nvPr>
            <p:ph type="dt" sz="half" idx="10"/>
          </p:nvPr>
        </p:nvSpPr>
        <p:spPr/>
        <p:txBody>
          <a:bodyPr/>
          <a:lstStyle/>
          <a:p>
            <a:fld id="{E68BAC6A-A91B-473B-A90E-04D6A6B29CE7}" type="datetime1">
              <a:rPr lang="en-IN" smtClean="0"/>
              <a:t>09-04-2026</a:t>
            </a:fld>
            <a:endParaRPr lang="en-IN"/>
          </a:p>
        </p:txBody>
      </p:sp>
      <p:sp>
        <p:nvSpPr>
          <p:cNvPr id="5" name="Footer Placeholder 4">
            <a:extLst>
              <a:ext uri="{FF2B5EF4-FFF2-40B4-BE49-F238E27FC236}">
                <a16:creationId xmlns:a16="http://schemas.microsoft.com/office/drawing/2014/main" id="{A34EC73D-0A8A-4950-9FD7-487AC00EA584}"/>
              </a:ext>
            </a:extLst>
          </p:cNvPr>
          <p:cNvSpPr>
            <a:spLocks noGrp="1"/>
          </p:cNvSpPr>
          <p:nvPr>
            <p:ph type="ftr" sz="quarter" idx="11"/>
          </p:nvPr>
        </p:nvSpPr>
        <p:spPr/>
        <p:txBody>
          <a:bodyPr/>
          <a:lstStyle/>
          <a:p>
            <a:r>
              <a:rPr lang="en-US"/>
              <a:t>2nd International Symposium on Securing Next-Generation Systems using Future Artificial Intelligence Technologies </a:t>
            </a:r>
            <a:endParaRPr lang="en-IN"/>
          </a:p>
        </p:txBody>
      </p:sp>
      <p:sp>
        <p:nvSpPr>
          <p:cNvPr id="6" name="Slide Number Placeholder 5">
            <a:extLst>
              <a:ext uri="{FF2B5EF4-FFF2-40B4-BE49-F238E27FC236}">
                <a16:creationId xmlns:a16="http://schemas.microsoft.com/office/drawing/2014/main" id="{DF5618BE-0643-45DA-993E-5938F8F8B2D6}"/>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1114500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C83C3-5D56-47C4-BAAA-0AEE6B039F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05191E-F147-465C-B1BC-F3192025C9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784D21-8E56-4941-93C0-57B67E22C5FD}"/>
              </a:ext>
            </a:extLst>
          </p:cNvPr>
          <p:cNvSpPr>
            <a:spLocks noGrp="1"/>
          </p:cNvSpPr>
          <p:nvPr>
            <p:ph type="dt" sz="half" idx="10"/>
          </p:nvPr>
        </p:nvSpPr>
        <p:spPr/>
        <p:txBody>
          <a:bodyPr/>
          <a:lstStyle/>
          <a:p>
            <a:fld id="{E0953B88-9E2F-4E0D-BEB5-9512ABE20021}" type="datetime1">
              <a:rPr lang="en-IN" smtClean="0"/>
              <a:t>09-04-2026</a:t>
            </a:fld>
            <a:endParaRPr lang="en-IN"/>
          </a:p>
        </p:txBody>
      </p:sp>
      <p:sp>
        <p:nvSpPr>
          <p:cNvPr id="5" name="Footer Placeholder 4">
            <a:extLst>
              <a:ext uri="{FF2B5EF4-FFF2-40B4-BE49-F238E27FC236}">
                <a16:creationId xmlns:a16="http://schemas.microsoft.com/office/drawing/2014/main" id="{CD79476B-12F5-4CE0-8BED-CC7E02D0513A}"/>
              </a:ext>
            </a:extLst>
          </p:cNvPr>
          <p:cNvSpPr>
            <a:spLocks noGrp="1"/>
          </p:cNvSpPr>
          <p:nvPr>
            <p:ph type="ftr" sz="quarter" idx="11"/>
          </p:nvPr>
        </p:nvSpPr>
        <p:spPr/>
        <p:txBody>
          <a:bodyPr/>
          <a:lstStyle/>
          <a:p>
            <a:r>
              <a:rPr lang="en-US"/>
              <a:t>2nd International Symposium on Securing Next-Generation Systems using Future Artificial Intelligence Technologies </a:t>
            </a:r>
            <a:endParaRPr lang="en-IN"/>
          </a:p>
        </p:txBody>
      </p:sp>
      <p:sp>
        <p:nvSpPr>
          <p:cNvPr id="6" name="Slide Number Placeholder 5">
            <a:extLst>
              <a:ext uri="{FF2B5EF4-FFF2-40B4-BE49-F238E27FC236}">
                <a16:creationId xmlns:a16="http://schemas.microsoft.com/office/drawing/2014/main" id="{2A82A1D1-2DC0-4EB9-B1C0-3D0A17261884}"/>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524062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23532-2579-487E-A806-FE059BC2ED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21D22E9-2061-45FA-973E-DC229F8B3A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3E1C65-23E2-4167-B173-FA4734A19564}"/>
              </a:ext>
            </a:extLst>
          </p:cNvPr>
          <p:cNvSpPr>
            <a:spLocks noGrp="1"/>
          </p:cNvSpPr>
          <p:nvPr>
            <p:ph type="dt" sz="half" idx="10"/>
          </p:nvPr>
        </p:nvSpPr>
        <p:spPr/>
        <p:txBody>
          <a:bodyPr/>
          <a:lstStyle/>
          <a:p>
            <a:fld id="{43ECD3E1-7812-4A9E-B864-B81937D742C8}" type="datetime1">
              <a:rPr lang="en-IN" smtClean="0"/>
              <a:t>09-04-2026</a:t>
            </a:fld>
            <a:endParaRPr lang="en-IN"/>
          </a:p>
        </p:txBody>
      </p:sp>
      <p:sp>
        <p:nvSpPr>
          <p:cNvPr id="5" name="Footer Placeholder 4">
            <a:extLst>
              <a:ext uri="{FF2B5EF4-FFF2-40B4-BE49-F238E27FC236}">
                <a16:creationId xmlns:a16="http://schemas.microsoft.com/office/drawing/2014/main" id="{FD3BCE50-78C6-4AF3-8C31-1792D834EE3A}"/>
              </a:ext>
            </a:extLst>
          </p:cNvPr>
          <p:cNvSpPr>
            <a:spLocks noGrp="1"/>
          </p:cNvSpPr>
          <p:nvPr>
            <p:ph type="ftr" sz="quarter" idx="11"/>
          </p:nvPr>
        </p:nvSpPr>
        <p:spPr/>
        <p:txBody>
          <a:bodyPr/>
          <a:lstStyle/>
          <a:p>
            <a:r>
              <a:rPr lang="en-US"/>
              <a:t>2nd International Symposium on Securing Next-Generation Systems using Future Artificial Intelligence Technologies </a:t>
            </a:r>
            <a:endParaRPr lang="en-IN"/>
          </a:p>
        </p:txBody>
      </p:sp>
      <p:sp>
        <p:nvSpPr>
          <p:cNvPr id="6" name="Slide Number Placeholder 5">
            <a:extLst>
              <a:ext uri="{FF2B5EF4-FFF2-40B4-BE49-F238E27FC236}">
                <a16:creationId xmlns:a16="http://schemas.microsoft.com/office/drawing/2014/main" id="{757E728E-FD97-4282-985C-0A8FA934812C}"/>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759065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8648D-8839-402E-8EBE-66C6755516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9641E8-F7C7-4F72-83E8-E8E8F3A895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211418-08AA-441A-8A66-97EDBEE0AF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93319B3-62E9-4A88-A05B-55A69EF5135C}"/>
              </a:ext>
            </a:extLst>
          </p:cNvPr>
          <p:cNvSpPr>
            <a:spLocks noGrp="1"/>
          </p:cNvSpPr>
          <p:nvPr>
            <p:ph type="dt" sz="half" idx="10"/>
          </p:nvPr>
        </p:nvSpPr>
        <p:spPr/>
        <p:txBody>
          <a:bodyPr/>
          <a:lstStyle/>
          <a:p>
            <a:fld id="{F53624A2-7147-41C7-8F51-419AC86CB2DA}" type="datetime1">
              <a:rPr lang="en-IN" smtClean="0"/>
              <a:t>09-04-2026</a:t>
            </a:fld>
            <a:endParaRPr lang="en-IN"/>
          </a:p>
        </p:txBody>
      </p:sp>
      <p:sp>
        <p:nvSpPr>
          <p:cNvPr id="6" name="Footer Placeholder 5">
            <a:extLst>
              <a:ext uri="{FF2B5EF4-FFF2-40B4-BE49-F238E27FC236}">
                <a16:creationId xmlns:a16="http://schemas.microsoft.com/office/drawing/2014/main" id="{5ABF91A1-5E44-452F-A78A-FBA5E47F43F8}"/>
              </a:ext>
            </a:extLst>
          </p:cNvPr>
          <p:cNvSpPr>
            <a:spLocks noGrp="1"/>
          </p:cNvSpPr>
          <p:nvPr>
            <p:ph type="ftr" sz="quarter" idx="11"/>
          </p:nvPr>
        </p:nvSpPr>
        <p:spPr/>
        <p:txBody>
          <a:bodyPr/>
          <a:lstStyle/>
          <a:p>
            <a:r>
              <a:rPr lang="en-US"/>
              <a:t>2nd International Symposium on Securing Next-Generation Systems using Future Artificial Intelligence Technologies </a:t>
            </a:r>
            <a:endParaRPr lang="en-IN"/>
          </a:p>
        </p:txBody>
      </p:sp>
      <p:sp>
        <p:nvSpPr>
          <p:cNvPr id="7" name="Slide Number Placeholder 6">
            <a:extLst>
              <a:ext uri="{FF2B5EF4-FFF2-40B4-BE49-F238E27FC236}">
                <a16:creationId xmlns:a16="http://schemas.microsoft.com/office/drawing/2014/main" id="{CEF1FC47-031D-4E2A-B90F-BE2FE414202B}"/>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1857207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7A536-4AE1-4490-9878-471FF125AA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916612D-5A89-4E9A-90B8-BF7FFA8A89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0DF513-E926-411D-8D2B-8831CD3096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9BBC415-A031-49A9-9DAD-F150409D1F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F0D390-93EF-4E83-9F5B-91286149D7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28EC721-76DC-43AF-96DF-A0EE7072BAEC}"/>
              </a:ext>
            </a:extLst>
          </p:cNvPr>
          <p:cNvSpPr>
            <a:spLocks noGrp="1"/>
          </p:cNvSpPr>
          <p:nvPr>
            <p:ph type="dt" sz="half" idx="10"/>
          </p:nvPr>
        </p:nvSpPr>
        <p:spPr/>
        <p:txBody>
          <a:bodyPr/>
          <a:lstStyle/>
          <a:p>
            <a:fld id="{2E65227A-EA38-4682-809F-1AB178D82CAD}" type="datetime1">
              <a:rPr lang="en-IN" smtClean="0"/>
              <a:t>09-04-2026</a:t>
            </a:fld>
            <a:endParaRPr lang="en-IN"/>
          </a:p>
        </p:txBody>
      </p:sp>
      <p:sp>
        <p:nvSpPr>
          <p:cNvPr id="8" name="Footer Placeholder 7">
            <a:extLst>
              <a:ext uri="{FF2B5EF4-FFF2-40B4-BE49-F238E27FC236}">
                <a16:creationId xmlns:a16="http://schemas.microsoft.com/office/drawing/2014/main" id="{DCB44597-18DE-4775-8FB6-A97F0DA48910}"/>
              </a:ext>
            </a:extLst>
          </p:cNvPr>
          <p:cNvSpPr>
            <a:spLocks noGrp="1"/>
          </p:cNvSpPr>
          <p:nvPr>
            <p:ph type="ftr" sz="quarter" idx="11"/>
          </p:nvPr>
        </p:nvSpPr>
        <p:spPr/>
        <p:txBody>
          <a:bodyPr/>
          <a:lstStyle/>
          <a:p>
            <a:r>
              <a:rPr lang="en-US"/>
              <a:t>2nd International Symposium on Securing Next-Generation Systems using Future Artificial Intelligence Technologies </a:t>
            </a:r>
            <a:endParaRPr lang="en-IN"/>
          </a:p>
        </p:txBody>
      </p:sp>
      <p:sp>
        <p:nvSpPr>
          <p:cNvPr id="9" name="Slide Number Placeholder 8">
            <a:extLst>
              <a:ext uri="{FF2B5EF4-FFF2-40B4-BE49-F238E27FC236}">
                <a16:creationId xmlns:a16="http://schemas.microsoft.com/office/drawing/2014/main" id="{2CC72141-DE0D-4AEB-B511-CB9B54FD6F39}"/>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521677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512DF-0ED8-4277-B395-2A4F842B76D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A0E3D8E-0ABE-4734-98F8-D36BD9940E0A}"/>
              </a:ext>
            </a:extLst>
          </p:cNvPr>
          <p:cNvSpPr>
            <a:spLocks noGrp="1"/>
          </p:cNvSpPr>
          <p:nvPr>
            <p:ph type="dt" sz="half" idx="10"/>
          </p:nvPr>
        </p:nvSpPr>
        <p:spPr/>
        <p:txBody>
          <a:bodyPr/>
          <a:lstStyle/>
          <a:p>
            <a:fld id="{9090AF2A-080E-4A88-B0AF-245159A4CDC9}" type="datetime1">
              <a:rPr lang="en-IN" smtClean="0"/>
              <a:t>09-04-2026</a:t>
            </a:fld>
            <a:endParaRPr lang="en-IN"/>
          </a:p>
        </p:txBody>
      </p:sp>
      <p:sp>
        <p:nvSpPr>
          <p:cNvPr id="4" name="Footer Placeholder 3">
            <a:extLst>
              <a:ext uri="{FF2B5EF4-FFF2-40B4-BE49-F238E27FC236}">
                <a16:creationId xmlns:a16="http://schemas.microsoft.com/office/drawing/2014/main" id="{510561F1-B38C-461E-85F3-2481751D02A6}"/>
              </a:ext>
            </a:extLst>
          </p:cNvPr>
          <p:cNvSpPr>
            <a:spLocks noGrp="1"/>
          </p:cNvSpPr>
          <p:nvPr>
            <p:ph type="ftr" sz="quarter" idx="11"/>
          </p:nvPr>
        </p:nvSpPr>
        <p:spPr/>
        <p:txBody>
          <a:bodyPr/>
          <a:lstStyle/>
          <a:p>
            <a:r>
              <a:rPr lang="en-US"/>
              <a:t>2nd International Symposium on Securing Next-Generation Systems using Future Artificial Intelligence Technologies </a:t>
            </a:r>
            <a:endParaRPr lang="en-IN"/>
          </a:p>
        </p:txBody>
      </p:sp>
      <p:sp>
        <p:nvSpPr>
          <p:cNvPr id="5" name="Slide Number Placeholder 4">
            <a:extLst>
              <a:ext uri="{FF2B5EF4-FFF2-40B4-BE49-F238E27FC236}">
                <a16:creationId xmlns:a16="http://schemas.microsoft.com/office/drawing/2014/main" id="{2E712915-E4FE-415C-9D69-B845A7D83F48}"/>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547365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922E84-AD5B-465F-98D4-488F871AAF00}"/>
              </a:ext>
            </a:extLst>
          </p:cNvPr>
          <p:cNvSpPr>
            <a:spLocks noGrp="1"/>
          </p:cNvSpPr>
          <p:nvPr>
            <p:ph type="dt" sz="half" idx="10"/>
          </p:nvPr>
        </p:nvSpPr>
        <p:spPr/>
        <p:txBody>
          <a:bodyPr/>
          <a:lstStyle/>
          <a:p>
            <a:fld id="{52B649F6-3336-4E62-A4DA-8CA689137BEC}" type="datetime1">
              <a:rPr lang="en-IN" smtClean="0"/>
              <a:t>09-04-2026</a:t>
            </a:fld>
            <a:endParaRPr lang="en-IN"/>
          </a:p>
        </p:txBody>
      </p:sp>
      <p:sp>
        <p:nvSpPr>
          <p:cNvPr id="3" name="Footer Placeholder 2">
            <a:extLst>
              <a:ext uri="{FF2B5EF4-FFF2-40B4-BE49-F238E27FC236}">
                <a16:creationId xmlns:a16="http://schemas.microsoft.com/office/drawing/2014/main" id="{1886C86A-862E-4B6A-B263-B01DE6A5BC64}"/>
              </a:ext>
            </a:extLst>
          </p:cNvPr>
          <p:cNvSpPr>
            <a:spLocks noGrp="1"/>
          </p:cNvSpPr>
          <p:nvPr>
            <p:ph type="ftr" sz="quarter" idx="11"/>
          </p:nvPr>
        </p:nvSpPr>
        <p:spPr/>
        <p:txBody>
          <a:bodyPr/>
          <a:lstStyle/>
          <a:p>
            <a:r>
              <a:rPr lang="en-US"/>
              <a:t>2nd International Symposium on Securing Next-Generation Systems using Future Artificial Intelligence Technologies </a:t>
            </a:r>
            <a:endParaRPr lang="en-IN"/>
          </a:p>
        </p:txBody>
      </p:sp>
      <p:sp>
        <p:nvSpPr>
          <p:cNvPr id="4" name="Slide Number Placeholder 3">
            <a:extLst>
              <a:ext uri="{FF2B5EF4-FFF2-40B4-BE49-F238E27FC236}">
                <a16:creationId xmlns:a16="http://schemas.microsoft.com/office/drawing/2014/main" id="{A62333FC-1B71-4E52-BF49-4D36D092009C}"/>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603833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BCCDE-35D4-412E-AFAB-C219873FE0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F7E1492-B8B6-4708-A8C8-A138B06333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F300379-D005-4BAC-B925-C132043087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EB0578-F2D9-4D73-83B2-F23670EBE97A}"/>
              </a:ext>
            </a:extLst>
          </p:cNvPr>
          <p:cNvSpPr>
            <a:spLocks noGrp="1"/>
          </p:cNvSpPr>
          <p:nvPr>
            <p:ph type="dt" sz="half" idx="10"/>
          </p:nvPr>
        </p:nvSpPr>
        <p:spPr/>
        <p:txBody>
          <a:bodyPr/>
          <a:lstStyle/>
          <a:p>
            <a:fld id="{68BC179E-15EB-4A92-9A06-B8176C6C8A64}" type="datetime1">
              <a:rPr lang="en-IN" smtClean="0"/>
              <a:t>09-04-2026</a:t>
            </a:fld>
            <a:endParaRPr lang="en-IN"/>
          </a:p>
        </p:txBody>
      </p:sp>
      <p:sp>
        <p:nvSpPr>
          <p:cNvPr id="6" name="Footer Placeholder 5">
            <a:extLst>
              <a:ext uri="{FF2B5EF4-FFF2-40B4-BE49-F238E27FC236}">
                <a16:creationId xmlns:a16="http://schemas.microsoft.com/office/drawing/2014/main" id="{C24F134B-4FB5-46E9-8513-DB4C9B2EE88F}"/>
              </a:ext>
            </a:extLst>
          </p:cNvPr>
          <p:cNvSpPr>
            <a:spLocks noGrp="1"/>
          </p:cNvSpPr>
          <p:nvPr>
            <p:ph type="ftr" sz="quarter" idx="11"/>
          </p:nvPr>
        </p:nvSpPr>
        <p:spPr/>
        <p:txBody>
          <a:bodyPr/>
          <a:lstStyle/>
          <a:p>
            <a:r>
              <a:rPr lang="en-US"/>
              <a:t>2nd International Symposium on Securing Next-Generation Systems using Future Artificial Intelligence Technologies </a:t>
            </a:r>
            <a:endParaRPr lang="en-IN"/>
          </a:p>
        </p:txBody>
      </p:sp>
      <p:sp>
        <p:nvSpPr>
          <p:cNvPr id="7" name="Slide Number Placeholder 6">
            <a:extLst>
              <a:ext uri="{FF2B5EF4-FFF2-40B4-BE49-F238E27FC236}">
                <a16:creationId xmlns:a16="http://schemas.microsoft.com/office/drawing/2014/main" id="{F0EE61B3-BD8A-43AB-BB10-5B53A90AD79F}"/>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94170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8223D-FF11-4AE7-973E-C90327524F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60DF81C-EE9D-4D7F-A967-0672314476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653EF43-9D88-4586-A760-098C147507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BBD912-76F0-4805-9E0D-7C09F249E8E9}"/>
              </a:ext>
            </a:extLst>
          </p:cNvPr>
          <p:cNvSpPr>
            <a:spLocks noGrp="1"/>
          </p:cNvSpPr>
          <p:nvPr>
            <p:ph type="dt" sz="half" idx="10"/>
          </p:nvPr>
        </p:nvSpPr>
        <p:spPr/>
        <p:txBody>
          <a:bodyPr/>
          <a:lstStyle/>
          <a:p>
            <a:fld id="{045C5B34-9F94-40EC-911F-D5B5FF23FB31}" type="datetime1">
              <a:rPr lang="en-IN" smtClean="0"/>
              <a:t>09-04-2026</a:t>
            </a:fld>
            <a:endParaRPr lang="en-IN"/>
          </a:p>
        </p:txBody>
      </p:sp>
      <p:sp>
        <p:nvSpPr>
          <p:cNvPr id="6" name="Footer Placeholder 5">
            <a:extLst>
              <a:ext uri="{FF2B5EF4-FFF2-40B4-BE49-F238E27FC236}">
                <a16:creationId xmlns:a16="http://schemas.microsoft.com/office/drawing/2014/main" id="{BA50FEFC-E6F0-4221-8F91-DEE76671F228}"/>
              </a:ext>
            </a:extLst>
          </p:cNvPr>
          <p:cNvSpPr>
            <a:spLocks noGrp="1"/>
          </p:cNvSpPr>
          <p:nvPr>
            <p:ph type="ftr" sz="quarter" idx="11"/>
          </p:nvPr>
        </p:nvSpPr>
        <p:spPr/>
        <p:txBody>
          <a:bodyPr/>
          <a:lstStyle/>
          <a:p>
            <a:r>
              <a:rPr lang="en-US"/>
              <a:t>2nd International Symposium on Securing Next-Generation Systems using Future Artificial Intelligence Technologies </a:t>
            </a:r>
            <a:endParaRPr lang="en-IN"/>
          </a:p>
        </p:txBody>
      </p:sp>
      <p:sp>
        <p:nvSpPr>
          <p:cNvPr id="7" name="Slide Number Placeholder 6">
            <a:extLst>
              <a:ext uri="{FF2B5EF4-FFF2-40B4-BE49-F238E27FC236}">
                <a16:creationId xmlns:a16="http://schemas.microsoft.com/office/drawing/2014/main" id="{770A78C8-FCAB-43A2-9CE6-A2768B5DABF9}"/>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82632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B5A84-E335-48CC-A676-05D91F6A70E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60F8BF-FFBC-41F7-B2B0-2CF3804EE2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65955D-CA90-44D7-BF8E-BC38A3F36D97}"/>
              </a:ext>
            </a:extLst>
          </p:cNvPr>
          <p:cNvSpPr>
            <a:spLocks noGrp="1"/>
          </p:cNvSpPr>
          <p:nvPr>
            <p:ph type="dt" sz="half" idx="10"/>
          </p:nvPr>
        </p:nvSpPr>
        <p:spPr/>
        <p:txBody>
          <a:bodyPr/>
          <a:lstStyle/>
          <a:p>
            <a:fld id="{3A362C73-B261-4FD4-BAD4-0AD039A7E604}" type="datetime1">
              <a:rPr lang="en-IN" smtClean="0"/>
              <a:t>09-04-2026</a:t>
            </a:fld>
            <a:endParaRPr lang="en-IN"/>
          </a:p>
        </p:txBody>
      </p:sp>
      <p:sp>
        <p:nvSpPr>
          <p:cNvPr id="5" name="Footer Placeholder 4">
            <a:extLst>
              <a:ext uri="{FF2B5EF4-FFF2-40B4-BE49-F238E27FC236}">
                <a16:creationId xmlns:a16="http://schemas.microsoft.com/office/drawing/2014/main" id="{870CB078-D83E-4166-A02C-B6B163DA9360}"/>
              </a:ext>
            </a:extLst>
          </p:cNvPr>
          <p:cNvSpPr>
            <a:spLocks noGrp="1"/>
          </p:cNvSpPr>
          <p:nvPr>
            <p:ph type="ftr" sz="quarter" idx="11"/>
          </p:nvPr>
        </p:nvSpPr>
        <p:spPr/>
        <p:txBody>
          <a:bodyPr/>
          <a:lstStyle/>
          <a:p>
            <a:r>
              <a:rPr lang="en-US"/>
              <a:t>2nd International Symposium on Securing Next-Generation Systems using Future Artificial Intelligence Technologies </a:t>
            </a:r>
            <a:endParaRPr lang="en-IN"/>
          </a:p>
        </p:txBody>
      </p:sp>
      <p:sp>
        <p:nvSpPr>
          <p:cNvPr id="6" name="Slide Number Placeholder 5">
            <a:extLst>
              <a:ext uri="{FF2B5EF4-FFF2-40B4-BE49-F238E27FC236}">
                <a16:creationId xmlns:a16="http://schemas.microsoft.com/office/drawing/2014/main" id="{DCF2FEF6-C837-419F-8835-DC22EF83E19E}"/>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271205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1401E9-8805-42DB-AC72-2AE0FF03F7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EEB009-1E61-4516-B850-2D2767C6B6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DE6585-E3B2-43BE-AAE1-443822B2FC44}"/>
              </a:ext>
            </a:extLst>
          </p:cNvPr>
          <p:cNvSpPr>
            <a:spLocks noGrp="1"/>
          </p:cNvSpPr>
          <p:nvPr>
            <p:ph type="dt" sz="half" idx="10"/>
          </p:nvPr>
        </p:nvSpPr>
        <p:spPr/>
        <p:txBody>
          <a:bodyPr/>
          <a:lstStyle/>
          <a:p>
            <a:fld id="{B1365B16-E566-4C1A-A21C-527B43D72336}" type="datetime1">
              <a:rPr lang="en-IN" smtClean="0"/>
              <a:t>09-04-2026</a:t>
            </a:fld>
            <a:endParaRPr lang="en-IN"/>
          </a:p>
        </p:txBody>
      </p:sp>
      <p:sp>
        <p:nvSpPr>
          <p:cNvPr id="5" name="Footer Placeholder 4">
            <a:extLst>
              <a:ext uri="{FF2B5EF4-FFF2-40B4-BE49-F238E27FC236}">
                <a16:creationId xmlns:a16="http://schemas.microsoft.com/office/drawing/2014/main" id="{788DC36A-90BB-45C6-86EC-EF77DE5E67FC}"/>
              </a:ext>
            </a:extLst>
          </p:cNvPr>
          <p:cNvSpPr>
            <a:spLocks noGrp="1"/>
          </p:cNvSpPr>
          <p:nvPr>
            <p:ph type="ftr" sz="quarter" idx="11"/>
          </p:nvPr>
        </p:nvSpPr>
        <p:spPr/>
        <p:txBody>
          <a:bodyPr/>
          <a:lstStyle/>
          <a:p>
            <a:r>
              <a:rPr lang="en-US"/>
              <a:t>2nd International Symposium on Securing Next-Generation Systems using Future Artificial Intelligence Technologies </a:t>
            </a:r>
            <a:endParaRPr lang="en-IN"/>
          </a:p>
        </p:txBody>
      </p:sp>
      <p:sp>
        <p:nvSpPr>
          <p:cNvPr id="6" name="Slide Number Placeholder 5">
            <a:extLst>
              <a:ext uri="{FF2B5EF4-FFF2-40B4-BE49-F238E27FC236}">
                <a16:creationId xmlns:a16="http://schemas.microsoft.com/office/drawing/2014/main" id="{95E6A805-3800-4CB1-9ADA-94754454EBCF}"/>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749833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DEB43A-BD9E-4874-BFFB-60C4AC61A0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2276C3F-335A-4DB7-9751-C78105CE3F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A7C449-54C2-463E-BDDF-5F5299CBAE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62B17B-ED7F-41D4-8FD8-884B8E995DBB}" type="datetime1">
              <a:rPr lang="en-IN" smtClean="0"/>
              <a:t>09-04-2026</a:t>
            </a:fld>
            <a:endParaRPr lang="en-IN"/>
          </a:p>
        </p:txBody>
      </p:sp>
      <p:sp>
        <p:nvSpPr>
          <p:cNvPr id="5" name="Footer Placeholder 4">
            <a:extLst>
              <a:ext uri="{FF2B5EF4-FFF2-40B4-BE49-F238E27FC236}">
                <a16:creationId xmlns:a16="http://schemas.microsoft.com/office/drawing/2014/main" id="{E9337EE8-8318-4653-A49C-0E3AAA3CE2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2nd International Symposium on Securing Next-Generation Systems using Future Artificial Intelligence Technologies </a:t>
            </a:r>
            <a:endParaRPr lang="en-IN"/>
          </a:p>
        </p:txBody>
      </p:sp>
      <p:sp>
        <p:nvSpPr>
          <p:cNvPr id="6" name="Slide Number Placeholder 5">
            <a:extLst>
              <a:ext uri="{FF2B5EF4-FFF2-40B4-BE49-F238E27FC236}">
                <a16:creationId xmlns:a16="http://schemas.microsoft.com/office/drawing/2014/main" id="{B85FA26E-3201-463F-ACF3-CBF98D3B2E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47CD7D-2DE7-4E97-993E-733569484B37}" type="slidenum">
              <a:rPr lang="en-IN" smtClean="0"/>
              <a:t>‹#›</a:t>
            </a:fld>
            <a:endParaRPr lang="en-IN"/>
          </a:p>
        </p:txBody>
      </p:sp>
    </p:spTree>
    <p:extLst>
      <p:ext uri="{BB962C8B-B14F-4D97-AF65-F5344CB8AC3E}">
        <p14:creationId xmlns:p14="http://schemas.microsoft.com/office/powerpoint/2010/main" val="7877714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docs.opencv.org/" TargetMode="External"/><Relationship Id="rId2" Type="http://schemas.openxmlformats.org/officeDocument/2006/relationships/hyperlink" Target="https://docs.nvidia.com/cuda/" TargetMode="Externa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type="subTitle" idx="1"/>
          </p:nvPr>
        </p:nvSpPr>
        <p:spPr>
          <a:xfrm>
            <a:off x="113677" y="1669311"/>
            <a:ext cx="11847005" cy="4978583"/>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r>
              <a:rPr lang="en-IN" sz="2800" b="1">
                <a:solidFill>
                  <a:srgbClr val="002060"/>
                </a:solidFill>
                <a:latin typeface="Comic Sans MS" panose="030F0702030302020204" pitchFamily="66" charset="0"/>
              </a:rPr>
              <a:t>Mini Project Presentation</a:t>
            </a:r>
            <a:endParaRPr lang="en-IN" b="1">
              <a:solidFill>
                <a:srgbClr val="002060"/>
              </a:solidFill>
              <a:latin typeface="Comic Sans MS" panose="030F0702030302020204" pitchFamily="66" charset="0"/>
            </a:endParaRPr>
          </a:p>
          <a:p>
            <a:endParaRPr lang="en-IN" sz="1400">
              <a:latin typeface="Comic Sans MS" panose="030F0702030302020204" pitchFamily="66" charset="0"/>
            </a:endParaRPr>
          </a:p>
          <a:p>
            <a:endParaRPr lang="en-IN" sz="1400">
              <a:latin typeface="Cooper Black"/>
            </a:endParaRPr>
          </a:p>
          <a:p>
            <a:r>
              <a:rPr lang="en-IN" sz="4000" b="1">
                <a:latin typeface="Cooper Black"/>
                <a:ea typeface="+mn-lt"/>
                <a:cs typeface="+mn-lt"/>
              </a:rPr>
              <a:t>CUDA‑Accelerated Box Blur</a:t>
            </a:r>
            <a:r>
              <a:rPr lang="en-IN" sz="3200" b="1">
                <a:latin typeface="Comic Sans MS"/>
              </a:rPr>
              <a:t> </a:t>
            </a:r>
            <a:endParaRPr lang="en-IN"/>
          </a:p>
          <a:p>
            <a:endParaRPr lang="en-IN" sz="1400" b="1">
              <a:latin typeface="Comic Sans MS" panose="030F0702030302020204" pitchFamily="66" charset="0"/>
            </a:endParaRPr>
          </a:p>
          <a:p>
            <a:endParaRPr lang="en-IN" sz="1800" b="1">
              <a:latin typeface="Comic Sans MS"/>
            </a:endParaRPr>
          </a:p>
          <a:p>
            <a:r>
              <a:rPr lang="en-IN" sz="2200" b="1">
                <a:latin typeface="Comic Sans MS"/>
              </a:rPr>
              <a:t>Authors</a:t>
            </a:r>
            <a:endParaRPr lang="en-IN" sz="2200">
              <a:latin typeface="Comic Sans MS"/>
            </a:endParaRPr>
          </a:p>
          <a:p>
            <a:r>
              <a:rPr lang="en-IN" sz="1800" b="1" i="1">
                <a:latin typeface="Comic Sans MS"/>
              </a:rPr>
              <a:t>Abhishek Kumar (230962286)</a:t>
            </a:r>
            <a:endParaRPr lang="en-IN" sz="1800" b="1" i="1">
              <a:latin typeface="Comic Sans MS" panose="030F0702030302020204" pitchFamily="66" charset="0"/>
            </a:endParaRPr>
          </a:p>
          <a:p>
            <a:r>
              <a:rPr lang="en-IN" sz="1800" b="1" i="1">
                <a:latin typeface="Comic Sans MS"/>
              </a:rPr>
              <a:t>Tejasveer Singh (230962224)</a:t>
            </a:r>
            <a:endParaRPr lang="en-IN" sz="1800" b="1" i="1">
              <a:latin typeface="Comic Sans MS" panose="030F0702030302020204" pitchFamily="66" charset="0"/>
            </a:endParaRPr>
          </a:p>
          <a:p>
            <a:endParaRPr lang="en-IN" sz="1800" b="1">
              <a:latin typeface="Comic Sans MS" panose="030F0702030302020204" pitchFamily="66" charset="0"/>
            </a:endParaRPr>
          </a:p>
          <a:p>
            <a:endParaRPr lang="en-IN" sz="1800" b="1">
              <a:latin typeface="Comic Sans MS" panose="030F0702030302020204" pitchFamily="66" charset="0"/>
            </a:endParaRPr>
          </a:p>
          <a:p>
            <a:endParaRPr lang="en-IN" sz="1400">
              <a:latin typeface="Comic Sans MS" panose="030F0702030302020204" pitchFamily="66" charset="0"/>
            </a:endParaRPr>
          </a:p>
          <a:p>
            <a:endParaRPr lang="en-IN" sz="1400">
              <a:latin typeface="Comic Sans MS" panose="030F0702030302020204" pitchFamily="66" charset="0"/>
            </a:endParaRPr>
          </a:p>
        </p:txBody>
      </p:sp>
      <p:pic>
        <p:nvPicPr>
          <p:cNvPr id="4" name="Picture 3">
            <a:extLst>
              <a:ext uri="{FF2B5EF4-FFF2-40B4-BE49-F238E27FC236}">
                <a16:creationId xmlns:a16="http://schemas.microsoft.com/office/drawing/2014/main" id="{EFE58127-D07C-63F1-ECE2-31CB5F802861}"/>
              </a:ext>
            </a:extLst>
          </p:cNvPr>
          <p:cNvPicPr>
            <a:picLocks noChangeAspect="1"/>
          </p:cNvPicPr>
          <p:nvPr/>
        </p:nvPicPr>
        <p:blipFill>
          <a:blip r:embed="rId2"/>
          <a:stretch>
            <a:fillRect/>
          </a:stretch>
        </p:blipFill>
        <p:spPr>
          <a:xfrm>
            <a:off x="358698" y="108420"/>
            <a:ext cx="1571844" cy="1428949"/>
          </a:xfrm>
          <a:prstGeom prst="rect">
            <a:avLst/>
          </a:prstGeom>
        </p:spPr>
      </p:pic>
      <p:pic>
        <p:nvPicPr>
          <p:cNvPr id="8" name="Picture 7">
            <a:extLst>
              <a:ext uri="{FF2B5EF4-FFF2-40B4-BE49-F238E27FC236}">
                <a16:creationId xmlns:a16="http://schemas.microsoft.com/office/drawing/2014/main" id="{F9EC9812-C282-2624-8E13-1A8C2161C341}"/>
              </a:ext>
            </a:extLst>
          </p:cNvPr>
          <p:cNvPicPr>
            <a:picLocks noChangeAspect="1"/>
          </p:cNvPicPr>
          <p:nvPr/>
        </p:nvPicPr>
        <p:blipFill>
          <a:blip r:embed="rId3"/>
          <a:stretch>
            <a:fillRect/>
          </a:stretch>
        </p:blipFill>
        <p:spPr>
          <a:xfrm>
            <a:off x="2212394" y="43085"/>
            <a:ext cx="4230463" cy="1559617"/>
          </a:xfrm>
          <a:prstGeom prst="rect">
            <a:avLst/>
          </a:prstGeom>
        </p:spPr>
      </p:pic>
    </p:spTree>
    <p:extLst>
      <p:ext uri="{BB962C8B-B14F-4D97-AF65-F5344CB8AC3E}">
        <p14:creationId xmlns:p14="http://schemas.microsoft.com/office/powerpoint/2010/main" val="4289812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304A5B-A54F-4A67-93A1-9C57D7288ED8}"/>
              </a:ext>
            </a:extLst>
          </p:cNvPr>
          <p:cNvSpPr>
            <a:spLocks noGrp="1"/>
          </p:cNvSpPr>
          <p:nvPr>
            <p:ph type="subTitle" idx="1"/>
          </p:nvPr>
        </p:nvSpPr>
        <p:spPr>
          <a:xfrm>
            <a:off x="190670" y="1690577"/>
            <a:ext cx="11678776" cy="4701345"/>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algn="l"/>
            <a:r>
              <a:rPr lang="en-IN" b="1" i="1" u="sng">
                <a:latin typeface="Comic Sans MS"/>
              </a:rPr>
              <a:t>1. INDEX:</a:t>
            </a:r>
          </a:p>
          <a:p>
            <a:pPr marL="457200" indent="-457200" algn="l">
              <a:buAutoNum type="arabicPeriod"/>
            </a:pPr>
            <a:r>
              <a:rPr lang="en-IN">
                <a:ea typeface="+mn-lt"/>
                <a:cs typeface="+mn-lt"/>
              </a:rPr>
              <a:t>Abstract</a:t>
            </a:r>
            <a:endParaRPr lang="en-IN">
              <a:ea typeface="Calibri" panose="020F0502020204030204"/>
              <a:cs typeface="Calibri" panose="020F0502020204030204"/>
            </a:endParaRPr>
          </a:p>
          <a:p>
            <a:pPr marL="457200" indent="-457200" algn="l">
              <a:buAutoNum type="arabicPeriod"/>
            </a:pPr>
            <a:r>
              <a:rPr lang="en-IN">
                <a:ea typeface="+mn-lt"/>
                <a:cs typeface="+mn-lt"/>
              </a:rPr>
              <a:t>Introduction</a:t>
            </a:r>
            <a:endParaRPr lang="en-IN">
              <a:ea typeface="Calibri" panose="020F0502020204030204"/>
              <a:cs typeface="Calibri" panose="020F0502020204030204"/>
            </a:endParaRPr>
          </a:p>
          <a:p>
            <a:pPr marL="457200" indent="-457200" algn="l">
              <a:buAutoNum type="arabicPeriod"/>
            </a:pPr>
            <a:r>
              <a:rPr lang="en-IN">
                <a:ea typeface="+mn-lt"/>
                <a:cs typeface="+mn-lt"/>
              </a:rPr>
              <a:t>Literature Review</a:t>
            </a:r>
            <a:endParaRPr lang="en-IN">
              <a:ea typeface="Calibri" panose="020F0502020204030204"/>
              <a:cs typeface="Calibri" panose="020F0502020204030204"/>
            </a:endParaRPr>
          </a:p>
          <a:p>
            <a:pPr marL="457200" indent="-457200" algn="l">
              <a:buAutoNum type="arabicPeriod"/>
            </a:pPr>
            <a:r>
              <a:rPr lang="en-IN">
                <a:ea typeface="+mn-lt"/>
                <a:cs typeface="+mn-lt"/>
              </a:rPr>
              <a:t>Problem Statement &amp; Objectives</a:t>
            </a:r>
            <a:endParaRPr lang="en-IN">
              <a:ea typeface="Calibri" panose="020F0502020204030204"/>
              <a:cs typeface="Calibri" panose="020F0502020204030204"/>
            </a:endParaRPr>
          </a:p>
          <a:p>
            <a:pPr marL="457200" indent="-457200" algn="l">
              <a:buAutoNum type="arabicPeriod"/>
            </a:pPr>
            <a:r>
              <a:rPr lang="en-IN">
                <a:ea typeface="+mn-lt"/>
                <a:cs typeface="+mn-lt"/>
              </a:rPr>
              <a:t>Methodology</a:t>
            </a:r>
            <a:endParaRPr lang="en-IN">
              <a:ea typeface="Calibri" panose="020F0502020204030204"/>
              <a:cs typeface="Calibri" panose="020F0502020204030204"/>
            </a:endParaRPr>
          </a:p>
          <a:p>
            <a:pPr marL="457200" indent="-457200" algn="l">
              <a:buAutoNum type="arabicPeriod"/>
            </a:pPr>
            <a:r>
              <a:rPr lang="en-IN">
                <a:ea typeface="+mn-lt"/>
                <a:cs typeface="+mn-lt"/>
              </a:rPr>
              <a:t>Results &amp; Discussion</a:t>
            </a:r>
            <a:endParaRPr lang="en-IN">
              <a:ea typeface="Calibri" panose="020F0502020204030204"/>
              <a:cs typeface="Calibri" panose="020F0502020204030204"/>
            </a:endParaRPr>
          </a:p>
          <a:p>
            <a:pPr marL="457200" indent="-457200" algn="l">
              <a:buAutoNum type="arabicPeriod"/>
            </a:pPr>
            <a:r>
              <a:rPr lang="en-IN">
                <a:ea typeface="+mn-lt"/>
                <a:cs typeface="+mn-lt"/>
              </a:rPr>
              <a:t>Comparative Analysis</a:t>
            </a:r>
            <a:endParaRPr lang="en-IN">
              <a:ea typeface="Calibri" panose="020F0502020204030204"/>
              <a:cs typeface="Calibri" panose="020F0502020204030204"/>
            </a:endParaRPr>
          </a:p>
          <a:p>
            <a:pPr marL="457200" indent="-457200" algn="l">
              <a:buAutoNum type="arabicPeriod"/>
            </a:pPr>
            <a:r>
              <a:rPr lang="en-IN">
                <a:ea typeface="+mn-lt"/>
                <a:cs typeface="+mn-lt"/>
              </a:rPr>
              <a:t>Conclusion &amp; Future Work</a:t>
            </a:r>
            <a:endParaRPr lang="en-IN">
              <a:ea typeface="Calibri" panose="020F0502020204030204"/>
              <a:cs typeface="Calibri" panose="020F0502020204030204"/>
            </a:endParaRPr>
          </a:p>
          <a:p>
            <a:pPr marL="457200" indent="-457200" algn="l">
              <a:buAutoNum type="arabicPeriod"/>
            </a:pPr>
            <a:r>
              <a:rPr lang="en-IN">
                <a:ea typeface="+mn-lt"/>
                <a:cs typeface="+mn-lt"/>
              </a:rPr>
              <a:t>References</a:t>
            </a:r>
            <a:endParaRPr lang="en-IN">
              <a:ea typeface="Calibri" panose="020F0502020204030204"/>
              <a:cs typeface="Calibri" panose="020F0502020204030204"/>
            </a:endParaRPr>
          </a:p>
        </p:txBody>
      </p:sp>
      <p:pic>
        <p:nvPicPr>
          <p:cNvPr id="2" name="Picture 1">
            <a:extLst>
              <a:ext uri="{FF2B5EF4-FFF2-40B4-BE49-F238E27FC236}">
                <a16:creationId xmlns:a16="http://schemas.microsoft.com/office/drawing/2014/main" id="{7961FD27-0AE0-6CEE-83D2-5AF6B5350069}"/>
              </a:ext>
            </a:extLst>
          </p:cNvPr>
          <p:cNvPicPr>
            <a:picLocks noChangeAspect="1"/>
          </p:cNvPicPr>
          <p:nvPr/>
        </p:nvPicPr>
        <p:blipFill>
          <a:blip r:embed="rId2"/>
          <a:stretch>
            <a:fillRect/>
          </a:stretch>
        </p:blipFill>
        <p:spPr>
          <a:xfrm>
            <a:off x="103517" y="43087"/>
            <a:ext cx="1571844" cy="1428949"/>
          </a:xfrm>
          <a:prstGeom prst="rect">
            <a:avLst/>
          </a:prstGeom>
        </p:spPr>
      </p:pic>
      <p:pic>
        <p:nvPicPr>
          <p:cNvPr id="7" name="Picture 6">
            <a:extLst>
              <a:ext uri="{FF2B5EF4-FFF2-40B4-BE49-F238E27FC236}">
                <a16:creationId xmlns:a16="http://schemas.microsoft.com/office/drawing/2014/main" id="{4CF56327-5388-2C39-8F59-D92F93BD92A6}"/>
              </a:ext>
            </a:extLst>
          </p:cNvPr>
          <p:cNvPicPr>
            <a:picLocks noChangeAspect="1"/>
          </p:cNvPicPr>
          <p:nvPr/>
        </p:nvPicPr>
        <p:blipFill>
          <a:blip r:embed="rId3"/>
          <a:stretch>
            <a:fillRect/>
          </a:stretch>
        </p:blipFill>
        <p:spPr>
          <a:xfrm>
            <a:off x="2212394" y="43085"/>
            <a:ext cx="4230463" cy="1559617"/>
          </a:xfrm>
          <a:prstGeom prst="rect">
            <a:avLst/>
          </a:prstGeom>
        </p:spPr>
      </p:pic>
    </p:spTree>
    <p:extLst>
      <p:ext uri="{BB962C8B-B14F-4D97-AF65-F5344CB8AC3E}">
        <p14:creationId xmlns:p14="http://schemas.microsoft.com/office/powerpoint/2010/main" val="2763737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5EB14-B461-D72D-C2B7-C6833659ED6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CB62DCE-A71B-99F5-1381-3A327BC9EFE5}"/>
              </a:ext>
            </a:extLst>
          </p:cNvPr>
          <p:cNvSpPr>
            <a:spLocks noGrp="1"/>
          </p:cNvSpPr>
          <p:nvPr>
            <p:ph type="subTitle" idx="1"/>
          </p:nvPr>
        </p:nvSpPr>
        <p:spPr>
          <a:xfrm>
            <a:off x="178118" y="1765004"/>
            <a:ext cx="11691327" cy="4626917"/>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lnSpcReduction="10000"/>
          </a:bodyPr>
          <a:lstStyle/>
          <a:p>
            <a:pPr algn="l"/>
            <a:r>
              <a:rPr lang="en-IN" b="1" i="1" u="sng">
                <a:latin typeface="Comic Sans MS"/>
              </a:rPr>
              <a:t>2. ABSTRACT:</a:t>
            </a:r>
          </a:p>
          <a:p>
            <a:pPr marL="342900" indent="-342900" algn="l">
              <a:buChar char="•"/>
            </a:pPr>
            <a:r>
              <a:rPr lang="en-IN">
                <a:ea typeface="+mn-lt"/>
                <a:cs typeface="+mn-lt"/>
              </a:rPr>
              <a:t>This project implements and benchmarks a CUDA-Accelerated Box Blur (Mean Filter) for greyscale images. Box blur is a fundamental noise reduction technique used in CCTV and surveillance pre-processing pipelines, where it smooths sensor noise before motion detection or object recognition algorithms are applied.</a:t>
            </a:r>
          </a:p>
          <a:p>
            <a:pPr marL="342900" indent="-342900" algn="l">
              <a:buChar char="•"/>
            </a:pPr>
            <a:r>
              <a:rPr lang="en-IN">
                <a:ea typeface="+mn-lt"/>
                <a:cs typeface="+mn-lt"/>
              </a:rPr>
              <a:t>A sequential CPU reference and a parallel CUDA GPU kernel are implemented, both applying a 5×5 mean filter. The GPU kernel assigns one CUDA thread per pixel, enabling all 2+ million pixels of a Full HD frame to be processed simultaneously. Execution is benchmarked at three resolutions: 512×512, 1024×1024, and 1920×1080.</a:t>
            </a:r>
          </a:p>
          <a:p>
            <a:pPr marL="342900" indent="-342900" algn="l">
              <a:buChar char="•"/>
            </a:pPr>
            <a:r>
              <a:rPr lang="en-IN">
                <a:ea typeface="+mn-lt"/>
                <a:cs typeface="+mn-lt"/>
              </a:rPr>
              <a:t>Results show GPU speedups of 74x to 127x over the CPU across tested resolutions, with a PSNR of 28.43 dB confirming output quality. At Full HD, the GPU processes a frame in ~3.8 ms, demonstrating real-time capability at over 260 FPS.</a:t>
            </a:r>
          </a:p>
          <a:p>
            <a:pPr algn="l"/>
            <a:endParaRPr lang="en-IN">
              <a:latin typeface="Comic Sans MS" panose="030F0702030302020204" pitchFamily="66" charset="0"/>
              <a:ea typeface="Calibri"/>
              <a:cs typeface="Calibri"/>
            </a:endParaRPr>
          </a:p>
        </p:txBody>
      </p:sp>
      <p:pic>
        <p:nvPicPr>
          <p:cNvPr id="2" name="Picture 1">
            <a:extLst>
              <a:ext uri="{FF2B5EF4-FFF2-40B4-BE49-F238E27FC236}">
                <a16:creationId xmlns:a16="http://schemas.microsoft.com/office/drawing/2014/main" id="{D27CCE7D-3ED9-3F91-CF6E-4A7EEB4BD0D8}"/>
              </a:ext>
            </a:extLst>
          </p:cNvPr>
          <p:cNvPicPr>
            <a:picLocks noChangeAspect="1"/>
          </p:cNvPicPr>
          <p:nvPr/>
        </p:nvPicPr>
        <p:blipFill>
          <a:blip r:embed="rId2"/>
          <a:stretch>
            <a:fillRect/>
          </a:stretch>
        </p:blipFill>
        <p:spPr>
          <a:xfrm>
            <a:off x="103517" y="43087"/>
            <a:ext cx="1571844" cy="1428949"/>
          </a:xfrm>
          <a:prstGeom prst="rect">
            <a:avLst/>
          </a:prstGeom>
        </p:spPr>
      </p:pic>
      <p:pic>
        <p:nvPicPr>
          <p:cNvPr id="8" name="Picture 7">
            <a:extLst>
              <a:ext uri="{FF2B5EF4-FFF2-40B4-BE49-F238E27FC236}">
                <a16:creationId xmlns:a16="http://schemas.microsoft.com/office/drawing/2014/main" id="{81EB99E3-DDC7-8A04-5F83-3ED82D297BCB}"/>
              </a:ext>
            </a:extLst>
          </p:cNvPr>
          <p:cNvPicPr>
            <a:picLocks noChangeAspect="1"/>
          </p:cNvPicPr>
          <p:nvPr/>
        </p:nvPicPr>
        <p:blipFill>
          <a:blip r:embed="rId3"/>
          <a:stretch>
            <a:fillRect/>
          </a:stretch>
        </p:blipFill>
        <p:spPr>
          <a:xfrm>
            <a:off x="2212394" y="43085"/>
            <a:ext cx="4230463" cy="1559617"/>
          </a:xfrm>
          <a:prstGeom prst="rect">
            <a:avLst/>
          </a:prstGeom>
        </p:spPr>
      </p:pic>
    </p:spTree>
    <p:extLst>
      <p:ext uri="{BB962C8B-B14F-4D97-AF65-F5344CB8AC3E}">
        <p14:creationId xmlns:p14="http://schemas.microsoft.com/office/powerpoint/2010/main" val="3556195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3FBC6-6C43-DCC3-18A8-9C6D26F2063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5F49001-1F3D-68CD-87C3-6008E1B5AF1A}"/>
              </a:ext>
            </a:extLst>
          </p:cNvPr>
          <p:cNvSpPr>
            <a:spLocks noGrp="1"/>
          </p:cNvSpPr>
          <p:nvPr>
            <p:ph type="subTitle" idx="1"/>
          </p:nvPr>
        </p:nvSpPr>
        <p:spPr>
          <a:xfrm>
            <a:off x="178118" y="1722474"/>
            <a:ext cx="11691327" cy="4669448"/>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lnSpcReduction="10000"/>
          </a:bodyPr>
          <a:lstStyle/>
          <a:p>
            <a:pPr algn="l"/>
            <a:r>
              <a:rPr lang="en-IN" b="1" i="1" u="sng" dirty="0">
                <a:latin typeface="Comic Sans MS"/>
              </a:rPr>
              <a:t>3. INTRODUCTION:</a:t>
            </a:r>
          </a:p>
          <a:p>
            <a:pPr marL="342900" indent="-342900" algn="l">
              <a:buChar char="•"/>
            </a:pPr>
            <a:r>
              <a:rPr lang="en-IN" dirty="0">
                <a:ea typeface="+mn-lt"/>
                <a:cs typeface="+mn-lt"/>
              </a:rPr>
              <a:t>Modern CCTV and surveillance systems produce continuous high-resolution footage requiring near-real-time pre-processing. A critical step is noise reduction, which improves image quality before motion detection or object recognition. The Box Blur (Mean Filter) is the simplest and most widely used technique for this purpose.</a:t>
            </a:r>
            <a:endParaRPr lang="en-IN" dirty="0">
              <a:ea typeface="Calibri" panose="020F0502020204030204"/>
              <a:cs typeface="Calibri" panose="020F0502020204030204"/>
            </a:endParaRPr>
          </a:p>
          <a:p>
            <a:pPr marL="342900" indent="-342900" algn="l">
              <a:buChar char="•"/>
            </a:pPr>
            <a:r>
              <a:rPr lang="en-IN" dirty="0">
                <a:ea typeface="+mn-lt"/>
                <a:cs typeface="+mn-lt"/>
              </a:rPr>
              <a:t>Applying Box Blur sequentially on a CPU is computationally expensive: a 1920×1080 frame requires ~103 million operations per frame, making 30 FPS real-time processing infeasible on a single core. CUDA (Compute Unified Device Architecture) solves this by executing all pixel computations simultaneously across thousands of GPU cores.</a:t>
            </a:r>
            <a:endParaRPr lang="en-IN" dirty="0">
              <a:ea typeface="Calibri" panose="020F0502020204030204"/>
              <a:cs typeface="Calibri" panose="020F0502020204030204"/>
            </a:endParaRPr>
          </a:p>
          <a:p>
            <a:pPr marL="342900" indent="-342900" algn="l">
              <a:buChar char="•"/>
            </a:pPr>
            <a:r>
              <a:rPr lang="en-IN" dirty="0">
                <a:ea typeface="+mn-lt"/>
                <a:cs typeface="+mn-lt"/>
              </a:rPr>
              <a:t>This project implements a CUDA-accelerated Box Blur using a one-thread-per-pixel design, benchmarks it against a sequential CPU baseline across three resolutions, and evaluates both performance (Speedup) and output quality (PSNR). The work demonstrates the direct application of CUDA parallelism to real-world surveillance pre-processing.</a:t>
            </a:r>
            <a:endParaRPr lang="en-IN" dirty="0">
              <a:ea typeface="Calibri" panose="020F0502020204030204"/>
              <a:cs typeface="Calibri" panose="020F0502020204030204"/>
            </a:endParaRPr>
          </a:p>
        </p:txBody>
      </p:sp>
      <p:pic>
        <p:nvPicPr>
          <p:cNvPr id="2" name="Picture 1">
            <a:extLst>
              <a:ext uri="{FF2B5EF4-FFF2-40B4-BE49-F238E27FC236}">
                <a16:creationId xmlns:a16="http://schemas.microsoft.com/office/drawing/2014/main" id="{C2B6ADCB-EEB1-A862-9C33-D6B3CF10F13F}"/>
              </a:ext>
            </a:extLst>
          </p:cNvPr>
          <p:cNvPicPr>
            <a:picLocks noChangeAspect="1"/>
          </p:cNvPicPr>
          <p:nvPr/>
        </p:nvPicPr>
        <p:blipFill>
          <a:blip r:embed="rId2"/>
          <a:stretch>
            <a:fillRect/>
          </a:stretch>
        </p:blipFill>
        <p:spPr>
          <a:xfrm>
            <a:off x="103517" y="43087"/>
            <a:ext cx="1571844" cy="1428949"/>
          </a:xfrm>
          <a:prstGeom prst="rect">
            <a:avLst/>
          </a:prstGeom>
        </p:spPr>
      </p:pic>
      <p:pic>
        <p:nvPicPr>
          <p:cNvPr id="8" name="Picture 7">
            <a:extLst>
              <a:ext uri="{FF2B5EF4-FFF2-40B4-BE49-F238E27FC236}">
                <a16:creationId xmlns:a16="http://schemas.microsoft.com/office/drawing/2014/main" id="{0E227366-969F-59FA-09A2-B6D438FD3DD9}"/>
              </a:ext>
            </a:extLst>
          </p:cNvPr>
          <p:cNvPicPr>
            <a:picLocks noChangeAspect="1"/>
          </p:cNvPicPr>
          <p:nvPr/>
        </p:nvPicPr>
        <p:blipFill>
          <a:blip r:embed="rId3"/>
          <a:stretch>
            <a:fillRect/>
          </a:stretch>
        </p:blipFill>
        <p:spPr>
          <a:xfrm>
            <a:off x="2212394" y="43085"/>
            <a:ext cx="4230463" cy="1559617"/>
          </a:xfrm>
          <a:prstGeom prst="rect">
            <a:avLst/>
          </a:prstGeom>
        </p:spPr>
      </p:pic>
    </p:spTree>
    <p:extLst>
      <p:ext uri="{BB962C8B-B14F-4D97-AF65-F5344CB8AC3E}">
        <p14:creationId xmlns:p14="http://schemas.microsoft.com/office/powerpoint/2010/main" val="1495401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4B038-B2DC-FEB0-19D3-BF1BE2CDCFC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9AB1851-A396-00A4-5FA7-EC8C381FBF0D}"/>
              </a:ext>
            </a:extLst>
          </p:cNvPr>
          <p:cNvSpPr>
            <a:spLocks noGrp="1"/>
          </p:cNvSpPr>
          <p:nvPr>
            <p:ph type="subTitle" idx="1"/>
          </p:nvPr>
        </p:nvSpPr>
        <p:spPr>
          <a:xfrm>
            <a:off x="190670" y="1552352"/>
            <a:ext cx="11678775" cy="4839569"/>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algn="l"/>
            <a:r>
              <a:rPr lang="en-IN" b="1" i="1" u="sng">
                <a:latin typeface="Comic Sans MS"/>
              </a:rPr>
              <a:t>4. LITERATURE REVIEW :</a:t>
            </a:r>
          </a:p>
          <a:p>
            <a:pPr algn="l"/>
            <a:endParaRPr lang="en-IN" b="1" i="1" u="sng">
              <a:latin typeface="Comic Sans MS"/>
            </a:endParaRPr>
          </a:p>
        </p:txBody>
      </p:sp>
      <p:pic>
        <p:nvPicPr>
          <p:cNvPr id="2" name="Picture 1">
            <a:extLst>
              <a:ext uri="{FF2B5EF4-FFF2-40B4-BE49-F238E27FC236}">
                <a16:creationId xmlns:a16="http://schemas.microsoft.com/office/drawing/2014/main" id="{7C1BAABA-6077-F383-0644-8D630BBF8D10}"/>
              </a:ext>
            </a:extLst>
          </p:cNvPr>
          <p:cNvPicPr>
            <a:picLocks noChangeAspect="1"/>
          </p:cNvPicPr>
          <p:nvPr/>
        </p:nvPicPr>
        <p:blipFill>
          <a:blip r:embed="rId2"/>
          <a:stretch>
            <a:fillRect/>
          </a:stretch>
        </p:blipFill>
        <p:spPr>
          <a:xfrm>
            <a:off x="103517" y="43087"/>
            <a:ext cx="1571844" cy="1428949"/>
          </a:xfrm>
          <a:prstGeom prst="rect">
            <a:avLst/>
          </a:prstGeom>
        </p:spPr>
      </p:pic>
      <p:pic>
        <p:nvPicPr>
          <p:cNvPr id="8" name="Picture 7">
            <a:extLst>
              <a:ext uri="{FF2B5EF4-FFF2-40B4-BE49-F238E27FC236}">
                <a16:creationId xmlns:a16="http://schemas.microsoft.com/office/drawing/2014/main" id="{DE926411-A1C7-74BB-FCBA-8BC64DDC758E}"/>
              </a:ext>
            </a:extLst>
          </p:cNvPr>
          <p:cNvPicPr>
            <a:picLocks noChangeAspect="1"/>
          </p:cNvPicPr>
          <p:nvPr/>
        </p:nvPicPr>
        <p:blipFill>
          <a:blip r:embed="rId3"/>
          <a:stretch>
            <a:fillRect/>
          </a:stretch>
        </p:blipFill>
        <p:spPr>
          <a:xfrm>
            <a:off x="2212394" y="43085"/>
            <a:ext cx="4230463" cy="1559617"/>
          </a:xfrm>
          <a:prstGeom prst="rect">
            <a:avLst/>
          </a:prstGeom>
        </p:spPr>
      </p:pic>
      <p:graphicFrame>
        <p:nvGraphicFramePr>
          <p:cNvPr id="6" name="Table 5">
            <a:extLst>
              <a:ext uri="{FF2B5EF4-FFF2-40B4-BE49-F238E27FC236}">
                <a16:creationId xmlns:a16="http://schemas.microsoft.com/office/drawing/2014/main" id="{8C7E128A-6DE1-3EDD-2953-DF58AFFE17EA}"/>
              </a:ext>
            </a:extLst>
          </p:cNvPr>
          <p:cNvGraphicFramePr>
            <a:graphicFrameLocks noGrp="1"/>
          </p:cNvGraphicFramePr>
          <p:nvPr>
            <p:extLst>
              <p:ext uri="{D42A27DB-BD31-4B8C-83A1-F6EECF244321}">
                <p14:modId xmlns:p14="http://schemas.microsoft.com/office/powerpoint/2010/main" val="3802786321"/>
              </p:ext>
            </p:extLst>
          </p:nvPr>
        </p:nvGraphicFramePr>
        <p:xfrm>
          <a:off x="663222" y="2032000"/>
          <a:ext cx="10727104" cy="4119880"/>
        </p:xfrm>
        <a:graphic>
          <a:graphicData uri="http://schemas.openxmlformats.org/drawingml/2006/table">
            <a:tbl>
              <a:tblPr firstRow="1" bandRow="1">
                <a:tableStyleId>{5C22544A-7EE6-4342-B048-85BDC9FD1C3A}</a:tableStyleId>
              </a:tblPr>
              <a:tblGrid>
                <a:gridCol w="2681776">
                  <a:extLst>
                    <a:ext uri="{9D8B030D-6E8A-4147-A177-3AD203B41FA5}">
                      <a16:colId xmlns:a16="http://schemas.microsoft.com/office/drawing/2014/main" val="1245212473"/>
                    </a:ext>
                  </a:extLst>
                </a:gridCol>
                <a:gridCol w="2681776">
                  <a:extLst>
                    <a:ext uri="{9D8B030D-6E8A-4147-A177-3AD203B41FA5}">
                      <a16:colId xmlns:a16="http://schemas.microsoft.com/office/drawing/2014/main" val="191402650"/>
                    </a:ext>
                  </a:extLst>
                </a:gridCol>
                <a:gridCol w="2681776">
                  <a:extLst>
                    <a:ext uri="{9D8B030D-6E8A-4147-A177-3AD203B41FA5}">
                      <a16:colId xmlns:a16="http://schemas.microsoft.com/office/drawing/2014/main" val="968681858"/>
                    </a:ext>
                  </a:extLst>
                </a:gridCol>
                <a:gridCol w="2681776">
                  <a:extLst>
                    <a:ext uri="{9D8B030D-6E8A-4147-A177-3AD203B41FA5}">
                      <a16:colId xmlns:a16="http://schemas.microsoft.com/office/drawing/2014/main" val="3899526860"/>
                    </a:ext>
                  </a:extLst>
                </a:gridCol>
              </a:tblGrid>
              <a:tr h="370840">
                <a:tc>
                  <a:txBody>
                    <a:bodyPr/>
                    <a:lstStyle/>
                    <a:p>
                      <a:r>
                        <a:rPr lang="en-GB"/>
                        <a:t>Author / Year</a:t>
                      </a:r>
                    </a:p>
                  </a:txBody>
                  <a:tcPr/>
                </a:tc>
                <a:tc>
                  <a:txBody>
                    <a:bodyPr/>
                    <a:lstStyle/>
                    <a:p>
                      <a:r>
                        <a:rPr lang="en-GB"/>
                        <a:t>Topic</a:t>
                      </a:r>
                    </a:p>
                  </a:txBody>
                  <a:tcPr/>
                </a:tc>
                <a:tc>
                  <a:txBody>
                    <a:bodyPr/>
                    <a:lstStyle/>
                    <a:p>
                      <a:r>
                        <a:rPr lang="en-GB"/>
                        <a:t>Key Contribution</a:t>
                      </a:r>
                    </a:p>
                  </a:txBody>
                  <a:tcPr/>
                </a:tc>
                <a:tc>
                  <a:txBody>
                    <a:bodyPr/>
                    <a:lstStyle/>
                    <a:p>
                      <a:r>
                        <a:rPr lang="en-GB"/>
                        <a:t>Relevance to Project</a:t>
                      </a:r>
                    </a:p>
                  </a:txBody>
                  <a:tcPr/>
                </a:tc>
                <a:extLst>
                  <a:ext uri="{0D108BD9-81ED-4DB2-BD59-A6C34878D82A}">
                    <a16:rowId xmlns:a16="http://schemas.microsoft.com/office/drawing/2014/main" val="924766786"/>
                  </a:ext>
                </a:extLst>
              </a:tr>
              <a:tr h="370840">
                <a:tc>
                  <a:txBody>
                    <a:bodyPr/>
                    <a:lstStyle/>
                    <a:p>
                      <a:pPr lvl="0">
                        <a:buNone/>
                      </a:pPr>
                      <a:r>
                        <a:rPr lang="en-GB" sz="1800" b="0" i="0" u="none" strike="noStrike" noProof="0">
                          <a:latin typeface="Calibri"/>
                          <a:ea typeface="Calibri"/>
                          <a:cs typeface="Calibri"/>
                        </a:rPr>
                        <a:t>Kirk &amp; Hwu (2013)</a:t>
                      </a:r>
                      <a:endParaRPr lang="en-US"/>
                    </a:p>
                  </a:txBody>
                  <a:tcPr/>
                </a:tc>
                <a:tc>
                  <a:txBody>
                    <a:bodyPr/>
                    <a:lstStyle/>
                    <a:p>
                      <a:pPr lvl="0">
                        <a:buNone/>
                      </a:pPr>
                      <a:r>
                        <a:rPr lang="en-GB" sz="1800" b="0" i="0" u="none" strike="noStrike" noProof="0">
                          <a:latin typeface="Calibri"/>
                          <a:ea typeface="Calibri"/>
                          <a:cs typeface="Calibri"/>
                        </a:rPr>
                        <a:t>CUDA Data-Parallel Patterns</a:t>
                      </a:r>
                      <a:endParaRPr lang="en-US"/>
                    </a:p>
                  </a:txBody>
                  <a:tcPr/>
                </a:tc>
                <a:tc>
                  <a:txBody>
                    <a:bodyPr/>
                    <a:lstStyle/>
                    <a:p>
                      <a:pPr lvl="0">
                        <a:buNone/>
                      </a:pPr>
                      <a:r>
                        <a:rPr lang="en-GB" sz="1800" b="0" i="0" u="none" strike="noStrike" noProof="0">
                          <a:latin typeface="Calibri"/>
                          <a:ea typeface="Calibri"/>
                          <a:cs typeface="Calibri"/>
                        </a:rPr>
                        <a:t>Tiled convolution kernels on NVIDIA GPUs</a:t>
                      </a:r>
                      <a:endParaRPr lang="en-US"/>
                    </a:p>
                  </a:txBody>
                  <a:tcPr/>
                </a:tc>
                <a:tc>
                  <a:txBody>
                    <a:bodyPr/>
                    <a:lstStyle/>
                    <a:p>
                      <a:pPr lvl="0">
                        <a:buNone/>
                      </a:pPr>
                      <a:r>
                        <a:rPr lang="en-GB" sz="1800" b="0" i="0" u="none" strike="noStrike" noProof="0">
                          <a:latin typeface="Calibri"/>
                          <a:ea typeface="Calibri"/>
                          <a:cs typeface="Calibri"/>
                        </a:rPr>
                        <a:t>Direct basis for our kernel design</a:t>
                      </a:r>
                      <a:endParaRPr lang="en-US"/>
                    </a:p>
                  </a:txBody>
                  <a:tcPr/>
                </a:tc>
                <a:extLst>
                  <a:ext uri="{0D108BD9-81ED-4DB2-BD59-A6C34878D82A}">
                    <a16:rowId xmlns:a16="http://schemas.microsoft.com/office/drawing/2014/main" val="3882828027"/>
                  </a:ext>
                </a:extLst>
              </a:tr>
              <a:tr h="370840">
                <a:tc>
                  <a:txBody>
                    <a:bodyPr/>
                    <a:lstStyle/>
                    <a:p>
                      <a:pPr lvl="0">
                        <a:buNone/>
                      </a:pPr>
                      <a:r>
                        <a:rPr lang="en-GB" sz="1800" b="0" i="0" u="none" strike="noStrike" noProof="0">
                          <a:latin typeface="Calibri"/>
                          <a:ea typeface="Calibri"/>
                          <a:cs typeface="Calibri"/>
                        </a:rPr>
                        <a:t>Quinn (2003)</a:t>
                      </a:r>
                      <a:endParaRPr lang="en-US"/>
                    </a:p>
                  </a:txBody>
                  <a:tcPr/>
                </a:tc>
                <a:tc>
                  <a:txBody>
                    <a:bodyPr/>
                    <a:lstStyle/>
                    <a:p>
                      <a:pPr lvl="0" algn="l">
                        <a:lnSpc>
                          <a:spcPct val="100000"/>
                        </a:lnSpc>
                        <a:spcBef>
                          <a:spcPts val="0"/>
                        </a:spcBef>
                        <a:spcAft>
                          <a:spcPts val="0"/>
                        </a:spcAft>
                        <a:buNone/>
                      </a:pPr>
                      <a:r>
                        <a:rPr lang="en-GB"/>
                        <a:t>Parallel Decomposition</a:t>
                      </a:r>
                      <a:endParaRPr lang="en-US"/>
                    </a:p>
                  </a:txBody>
                  <a:tcPr/>
                </a:tc>
                <a:tc>
                  <a:txBody>
                    <a:bodyPr/>
                    <a:lstStyle/>
                    <a:p>
                      <a:pPr lvl="0">
                        <a:buNone/>
                      </a:pPr>
                      <a:r>
                        <a:rPr lang="en-GB" sz="1800" b="0" i="0" u="none" strike="noStrike" noProof="0">
                          <a:latin typeface="Calibri"/>
                          <a:ea typeface="Calibri"/>
                          <a:cs typeface="Calibri"/>
                        </a:rPr>
                        <a:t>Data-parallel strategies for image filters</a:t>
                      </a:r>
                      <a:endParaRPr lang="en-US"/>
                    </a:p>
                  </a:txBody>
                  <a:tcPr/>
                </a:tc>
                <a:tc>
                  <a:txBody>
                    <a:bodyPr/>
                    <a:lstStyle/>
                    <a:p>
                      <a:pPr lvl="0">
                        <a:buNone/>
                      </a:pPr>
                      <a:r>
                        <a:rPr lang="en-GB" sz="1800" b="0" i="0" u="none" strike="noStrike" noProof="0">
                          <a:latin typeface="Calibri"/>
                          <a:ea typeface="Calibri"/>
                          <a:cs typeface="Calibri"/>
                        </a:rPr>
                        <a:t>Validates one-thread-per-pixel approach</a:t>
                      </a:r>
                      <a:endParaRPr lang="en-US"/>
                    </a:p>
                  </a:txBody>
                  <a:tcPr/>
                </a:tc>
                <a:extLst>
                  <a:ext uri="{0D108BD9-81ED-4DB2-BD59-A6C34878D82A}">
                    <a16:rowId xmlns:a16="http://schemas.microsoft.com/office/drawing/2014/main" val="386293432"/>
                  </a:ext>
                </a:extLst>
              </a:tr>
              <a:tr h="370840">
                <a:tc>
                  <a:txBody>
                    <a:bodyPr/>
                    <a:lstStyle/>
                    <a:p>
                      <a:pPr lvl="0">
                        <a:buNone/>
                      </a:pPr>
                      <a:r>
                        <a:rPr lang="en-GB" sz="1800" b="0" i="0" u="none" strike="noStrike" noProof="0">
                          <a:latin typeface="Calibri"/>
                          <a:ea typeface="Calibri"/>
                          <a:cs typeface="Calibri"/>
                        </a:rPr>
                        <a:t>Bwalek et al. (2014)</a:t>
                      </a:r>
                      <a:endParaRPr lang="en-US"/>
                    </a:p>
                  </a:txBody>
                  <a:tcPr/>
                </a:tc>
                <a:tc>
                  <a:txBody>
                    <a:bodyPr/>
                    <a:lstStyle/>
                    <a:p>
                      <a:pPr lvl="0">
                        <a:buNone/>
                      </a:pPr>
                      <a:r>
                        <a:rPr lang="en-GB" sz="1800" b="0" i="0" u="none" strike="noStrike" noProof="0">
                          <a:latin typeface="Calibri"/>
                          <a:ea typeface="Calibri"/>
                          <a:cs typeface="Calibri"/>
                        </a:rPr>
                        <a:t>CCTV Pre-processing</a:t>
                      </a:r>
                      <a:endParaRPr lang="en-US"/>
                    </a:p>
                  </a:txBody>
                  <a:tcPr/>
                </a:tc>
                <a:tc>
                  <a:txBody>
                    <a:bodyPr/>
                    <a:lstStyle/>
                    <a:p>
                      <a:pPr lvl="0">
                        <a:buNone/>
                      </a:pPr>
                      <a:r>
                        <a:rPr lang="en-GB" sz="1800" b="0" i="0" u="none" strike="noStrike" noProof="0">
                          <a:latin typeface="Calibri"/>
                          <a:ea typeface="Calibri"/>
                          <a:cs typeface="Calibri"/>
                        </a:rPr>
                        <a:t>Image pre-processing for CCTV surveillance</a:t>
                      </a:r>
                      <a:endParaRPr lang="en-US"/>
                    </a:p>
                  </a:txBody>
                  <a:tcPr/>
                </a:tc>
                <a:tc>
                  <a:txBody>
                    <a:bodyPr/>
                    <a:lstStyle/>
                    <a:p>
                      <a:pPr lvl="0">
                        <a:buNone/>
                      </a:pPr>
                      <a:r>
                        <a:rPr lang="en-GB" sz="1800" b="0" i="0" u="none" strike="noStrike" noProof="0">
                          <a:latin typeface="Calibri"/>
                          <a:ea typeface="Calibri"/>
                          <a:cs typeface="Calibri"/>
                        </a:rPr>
                        <a:t>Motivates our real-world application context</a:t>
                      </a:r>
                      <a:endParaRPr lang="en-US"/>
                    </a:p>
                  </a:txBody>
                  <a:tcPr/>
                </a:tc>
                <a:extLst>
                  <a:ext uri="{0D108BD9-81ED-4DB2-BD59-A6C34878D82A}">
                    <a16:rowId xmlns:a16="http://schemas.microsoft.com/office/drawing/2014/main" val="2097923846"/>
                  </a:ext>
                </a:extLst>
              </a:tr>
              <a:tr h="370840">
                <a:tc>
                  <a:txBody>
                    <a:bodyPr/>
                    <a:lstStyle/>
                    <a:p>
                      <a:pPr lvl="0">
                        <a:buNone/>
                      </a:pPr>
                      <a:r>
                        <a:rPr lang="en-GB" sz="1800" b="0" i="0" u="none" strike="noStrike" noProof="0">
                          <a:latin typeface="Calibri"/>
                          <a:ea typeface="Calibri"/>
                          <a:cs typeface="Calibri"/>
                        </a:rPr>
                        <a:t>NVIDIA CUDA Guide (2024)</a:t>
                      </a:r>
                      <a:endParaRPr lang="en-US"/>
                    </a:p>
                  </a:txBody>
                  <a:tcPr/>
                </a:tc>
                <a:tc>
                  <a:txBody>
                    <a:bodyPr/>
                    <a:lstStyle/>
                    <a:p>
                      <a:pPr lvl="0">
                        <a:buNone/>
                      </a:pPr>
                      <a:r>
                        <a:rPr lang="en-GB" sz="1800" b="0" i="0" u="none" strike="noStrike" noProof="0">
                          <a:latin typeface="Calibri"/>
                          <a:ea typeface="Calibri"/>
                          <a:cs typeface="Calibri"/>
                        </a:rPr>
                        <a:t>GPU Memory Hierarchy</a:t>
                      </a:r>
                      <a:endParaRPr lang="en-US"/>
                    </a:p>
                  </a:txBody>
                  <a:tcPr/>
                </a:tc>
                <a:tc>
                  <a:txBody>
                    <a:bodyPr/>
                    <a:lstStyle/>
                    <a:p>
                      <a:pPr lvl="0">
                        <a:buNone/>
                      </a:pPr>
                      <a:r>
                        <a:rPr lang="en-GB" sz="1800" b="0" i="0" u="none" strike="noStrike" noProof="0">
                          <a:latin typeface="Calibri"/>
                          <a:ea typeface="Calibri"/>
                          <a:cs typeface="Calibri"/>
                        </a:rPr>
                        <a:t>Global memory, shared memory, constant memory</a:t>
                      </a:r>
                      <a:endParaRPr lang="en-US"/>
                    </a:p>
                  </a:txBody>
                  <a:tcPr/>
                </a:tc>
                <a:tc>
                  <a:txBody>
                    <a:bodyPr/>
                    <a:lstStyle/>
                    <a:p>
                      <a:pPr lvl="0">
                        <a:buNone/>
                      </a:pPr>
                      <a:r>
                        <a:rPr lang="en-GB" sz="1800" b="0" i="0" u="none" strike="noStrike" noProof="0">
                          <a:latin typeface="Calibri"/>
                          <a:ea typeface="Calibri"/>
                          <a:cs typeface="Calibri"/>
                        </a:rPr>
                        <a:t>Informs our baseline &amp; future optimisation</a:t>
                      </a:r>
                      <a:endParaRPr lang="en-US"/>
                    </a:p>
                  </a:txBody>
                  <a:tcPr/>
                </a:tc>
                <a:extLst>
                  <a:ext uri="{0D108BD9-81ED-4DB2-BD59-A6C34878D82A}">
                    <a16:rowId xmlns:a16="http://schemas.microsoft.com/office/drawing/2014/main" val="2050273213"/>
                  </a:ext>
                </a:extLst>
              </a:tr>
              <a:tr h="370840">
                <a:tc>
                  <a:txBody>
                    <a:bodyPr/>
                    <a:lstStyle/>
                    <a:p>
                      <a:pPr lvl="0">
                        <a:buNone/>
                      </a:pPr>
                      <a:r>
                        <a:rPr lang="en-GB" sz="1800" b="0" i="0" u="none" strike="noStrike" noProof="0">
                          <a:latin typeface="Calibri"/>
                          <a:ea typeface="Calibri"/>
                          <a:cs typeface="Calibri"/>
                        </a:rPr>
                        <a:t>Hwang &amp; Briggs (2012)</a:t>
                      </a:r>
                      <a:endParaRPr lang="en-US"/>
                    </a:p>
                  </a:txBody>
                  <a:tcPr/>
                </a:tc>
                <a:tc>
                  <a:txBody>
                    <a:bodyPr/>
                    <a:lstStyle/>
                    <a:p>
                      <a:pPr lvl="0">
                        <a:buNone/>
                      </a:pPr>
                      <a:r>
                        <a:rPr lang="en-GB" sz="1800" b="0" i="0" u="none" strike="noStrike" noProof="0">
                          <a:latin typeface="Calibri"/>
                          <a:ea typeface="Calibri"/>
                          <a:cs typeface="Calibri"/>
                        </a:rPr>
                        <a:t>Parallel Computer Architecture</a:t>
                      </a:r>
                      <a:endParaRPr lang="en-US"/>
                    </a:p>
                  </a:txBody>
                  <a:tcPr/>
                </a:tc>
                <a:tc>
                  <a:txBody>
                    <a:bodyPr/>
                    <a:lstStyle/>
                    <a:p>
                      <a:pPr lvl="0">
                        <a:buNone/>
                      </a:pPr>
                      <a:r>
                        <a:rPr lang="en-GB" sz="1800" b="0" i="0" u="none" strike="noStrike" noProof="0">
                          <a:latin typeface="Calibri"/>
                          <a:ea typeface="Calibri"/>
                          <a:cs typeface="Calibri"/>
                        </a:rPr>
                        <a:t>GPU parallelism in computer architecture context</a:t>
                      </a:r>
                      <a:endParaRPr lang="en-US"/>
                    </a:p>
                  </a:txBody>
                  <a:tcPr/>
                </a:tc>
                <a:tc>
                  <a:txBody>
                    <a:bodyPr/>
                    <a:lstStyle/>
                    <a:p>
                      <a:pPr lvl="0">
                        <a:buNone/>
                      </a:pPr>
                      <a:r>
                        <a:rPr lang="en-GB" sz="1800" b="0" i="0" u="none" strike="noStrike" noProof="0">
                          <a:latin typeface="Calibri"/>
                          <a:ea typeface="Calibri"/>
                          <a:cs typeface="Calibri"/>
                        </a:rPr>
                        <a:t>Theoretical foundation for GPU speedup analysis</a:t>
                      </a:r>
                      <a:endParaRPr lang="en-US"/>
                    </a:p>
                  </a:txBody>
                  <a:tcPr/>
                </a:tc>
                <a:extLst>
                  <a:ext uri="{0D108BD9-81ED-4DB2-BD59-A6C34878D82A}">
                    <a16:rowId xmlns:a16="http://schemas.microsoft.com/office/drawing/2014/main" val="288150362"/>
                  </a:ext>
                </a:extLst>
              </a:tr>
            </a:tbl>
          </a:graphicData>
        </a:graphic>
      </p:graphicFrame>
    </p:spTree>
    <p:extLst>
      <p:ext uri="{BB962C8B-B14F-4D97-AF65-F5344CB8AC3E}">
        <p14:creationId xmlns:p14="http://schemas.microsoft.com/office/powerpoint/2010/main" val="1772459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7B404-04D4-75FA-84BB-357930FDCD9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97EEA78-698E-5531-541A-B90B4F73C84B}"/>
              </a:ext>
            </a:extLst>
          </p:cNvPr>
          <p:cNvSpPr>
            <a:spLocks noGrp="1"/>
          </p:cNvSpPr>
          <p:nvPr>
            <p:ph type="subTitle" idx="1"/>
          </p:nvPr>
        </p:nvSpPr>
        <p:spPr>
          <a:xfrm>
            <a:off x="190670" y="1562986"/>
            <a:ext cx="11678775" cy="4828936"/>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algn="l"/>
            <a:r>
              <a:rPr lang="en-IN" b="1" i="1" u="sng">
                <a:latin typeface="Comic Sans MS"/>
              </a:rPr>
              <a:t>5. PROBLEM STATEMENT &amp; OBJECTIVES :</a:t>
            </a:r>
          </a:p>
          <a:p>
            <a:pPr marL="342900" indent="-342900" algn="l">
              <a:buChar char="•"/>
            </a:pPr>
            <a:r>
              <a:rPr lang="en-IN" sz="2300">
                <a:ea typeface="+mn-lt"/>
                <a:cs typeface="+mn-lt"/>
              </a:rPr>
              <a:t>Problem: Sequential CPU box blur cannot process 1920×1080 frames at 30 FPS — ~103 million ops/frame exceeds single-core throughput.</a:t>
            </a:r>
          </a:p>
          <a:p>
            <a:pPr marL="342900" indent="-342900" algn="l">
              <a:buChar char="•"/>
            </a:pPr>
            <a:r>
              <a:rPr lang="en-IN" sz="2300">
                <a:ea typeface="+mn-lt"/>
                <a:cs typeface="+mn-lt"/>
              </a:rPr>
              <a:t>Objective 1: Implement a sequential CPU-based box blur reference in C for greyscale images of arbitrary resolution.</a:t>
            </a:r>
          </a:p>
          <a:p>
            <a:pPr marL="342900" indent="-342900" algn="l">
              <a:buChar char="•"/>
            </a:pPr>
            <a:r>
              <a:rPr lang="en-IN" sz="2300">
                <a:ea typeface="+mn-lt"/>
                <a:cs typeface="+mn-lt"/>
              </a:rPr>
              <a:t>Objective 2: Implement a parallel CUDA kernel with one thread per pixel to exploit the embarrassingly parallel structure of the mean filter.</a:t>
            </a:r>
            <a:endParaRPr lang="en-IN" sz="2300">
              <a:ea typeface="Calibri" panose="020F0502020204030204"/>
              <a:cs typeface="Calibri" panose="020F0502020204030204"/>
            </a:endParaRPr>
          </a:p>
          <a:p>
            <a:pPr marL="342900" indent="-342900" algn="l">
              <a:buChar char="•"/>
            </a:pPr>
            <a:r>
              <a:rPr lang="en-IN" sz="2300">
                <a:ea typeface="+mn-lt"/>
                <a:cs typeface="+mn-lt"/>
              </a:rPr>
              <a:t>Objective 3: Benchmark both implementations at 512×512, 1024×1024, and 1920×1080 and report Speedup = CPU Time / GPU Time.</a:t>
            </a:r>
          </a:p>
          <a:p>
            <a:pPr marL="342900" indent="-342900" algn="l">
              <a:buChar char="•"/>
            </a:pPr>
            <a:r>
              <a:rPr lang="en-IN" sz="2300">
                <a:ea typeface="+mn-lt"/>
                <a:cs typeface="+mn-lt"/>
              </a:rPr>
              <a:t>Objective 4: Evaluate output quality using PSNR to confirm GPU kernel correctness relative to the CPU reference.</a:t>
            </a:r>
          </a:p>
          <a:p>
            <a:pPr marL="342900" indent="-342900" algn="l">
              <a:buChar char="•"/>
            </a:pPr>
            <a:r>
              <a:rPr lang="en-IN" sz="2300">
                <a:ea typeface="+mn-lt"/>
                <a:cs typeface="+mn-lt"/>
              </a:rPr>
              <a:t>Objective 5: Demonstrate real-world applicability for noise reduction in CCTV and low-light surveillance pre-processing.</a:t>
            </a:r>
            <a:endParaRPr lang="en-IN" sz="2300">
              <a:ea typeface="Calibri"/>
              <a:cs typeface="Calibri"/>
            </a:endParaRPr>
          </a:p>
        </p:txBody>
      </p:sp>
      <p:pic>
        <p:nvPicPr>
          <p:cNvPr id="2" name="Picture 1">
            <a:extLst>
              <a:ext uri="{FF2B5EF4-FFF2-40B4-BE49-F238E27FC236}">
                <a16:creationId xmlns:a16="http://schemas.microsoft.com/office/drawing/2014/main" id="{DF0022A9-C44A-DBD7-2134-53140A882FBD}"/>
              </a:ext>
            </a:extLst>
          </p:cNvPr>
          <p:cNvPicPr>
            <a:picLocks noChangeAspect="1"/>
          </p:cNvPicPr>
          <p:nvPr/>
        </p:nvPicPr>
        <p:blipFill>
          <a:blip r:embed="rId2"/>
          <a:stretch>
            <a:fillRect/>
          </a:stretch>
        </p:blipFill>
        <p:spPr>
          <a:xfrm>
            <a:off x="103517" y="43087"/>
            <a:ext cx="1571844" cy="1428949"/>
          </a:xfrm>
          <a:prstGeom prst="rect">
            <a:avLst/>
          </a:prstGeom>
        </p:spPr>
      </p:pic>
      <p:pic>
        <p:nvPicPr>
          <p:cNvPr id="8" name="Picture 7">
            <a:extLst>
              <a:ext uri="{FF2B5EF4-FFF2-40B4-BE49-F238E27FC236}">
                <a16:creationId xmlns:a16="http://schemas.microsoft.com/office/drawing/2014/main" id="{1111DB16-0743-EBDD-7984-C50F00473822}"/>
              </a:ext>
            </a:extLst>
          </p:cNvPr>
          <p:cNvPicPr>
            <a:picLocks noChangeAspect="1"/>
          </p:cNvPicPr>
          <p:nvPr/>
        </p:nvPicPr>
        <p:blipFill>
          <a:blip r:embed="rId3"/>
          <a:stretch>
            <a:fillRect/>
          </a:stretch>
        </p:blipFill>
        <p:spPr>
          <a:xfrm>
            <a:off x="2212394" y="43085"/>
            <a:ext cx="4230463" cy="1559617"/>
          </a:xfrm>
          <a:prstGeom prst="rect">
            <a:avLst/>
          </a:prstGeom>
        </p:spPr>
      </p:pic>
    </p:spTree>
    <p:extLst>
      <p:ext uri="{BB962C8B-B14F-4D97-AF65-F5344CB8AC3E}">
        <p14:creationId xmlns:p14="http://schemas.microsoft.com/office/powerpoint/2010/main" val="2084086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72E3B-97AF-CE3D-A013-DCC18DFEA90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B25CA07-CC8A-0BEF-B0BC-4784119328FB}"/>
              </a:ext>
            </a:extLst>
          </p:cNvPr>
          <p:cNvSpPr>
            <a:spLocks noGrp="1"/>
          </p:cNvSpPr>
          <p:nvPr>
            <p:ph type="subTitle" idx="1"/>
          </p:nvPr>
        </p:nvSpPr>
        <p:spPr>
          <a:xfrm>
            <a:off x="190670" y="1679944"/>
            <a:ext cx="11678775" cy="4711978"/>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algn="l"/>
            <a:r>
              <a:rPr lang="en-IN" b="1" i="1" u="sng">
                <a:latin typeface="Comic Sans MS"/>
              </a:rPr>
              <a:t>6. METHODOLOGY :</a:t>
            </a:r>
          </a:p>
          <a:p>
            <a:pPr algn="l"/>
            <a:endParaRPr lang="en-IN" b="1" i="1" u="sng">
              <a:latin typeface="Comic Sans MS"/>
            </a:endParaRPr>
          </a:p>
        </p:txBody>
      </p:sp>
      <p:sp>
        <p:nvSpPr>
          <p:cNvPr id="10" name="MethodologyText"/>
          <p:cNvSpPr>
            <a:spLocks noGrp="1"/>
          </p:cNvSpPr>
          <p:nvPr>
            <p:ph idx="1"/>
          </p:nvPr>
        </p:nvSpPr>
        <p:spPr>
          <a:xfrm>
            <a:off x="457200" y="2400000"/>
            <a:ext cx="8229600" cy="4000000"/>
          </a:xfrm>
        </p:spPr>
        <p:txBody>
          <a:bodyPr/>
          <a:lstStyle/>
          <a:p>
            <a:r>
              <a:rPr lang="en-US" sz="1600" b="1" dirty="0"/>
              <a:t>Algorithm Design:</a:t>
            </a:r>
          </a:p>
          <a:p>
            <a:r>
              <a:rPr lang="en-US" sz="1400" dirty="0"/>
              <a:t>Each pixel output = average of 25 neighbours in a 5x5 window (Blur Radius R=2). Boundary pixels use clamp-to-edge padding.</a:t>
            </a:r>
          </a:p>
          <a:p>
            <a:r>
              <a:rPr lang="en-US" sz="1600" b="1" dirty="0"/>
              <a:t>CPU Reference:</a:t>
            </a:r>
          </a:p>
          <a:p>
            <a:r>
              <a:rPr lang="en-US" sz="1400" dirty="0"/>
              <a:t>4 nested loops (y, x, ky, kx) process every pixel sequentially. Timed using clock().</a:t>
            </a:r>
          </a:p>
          <a:p>
            <a:r>
              <a:rPr lang="en-US" sz="1600" b="1" dirty="0"/>
              <a:t>GPU Kernel (CUDA):</a:t>
            </a:r>
          </a:p>
          <a:p>
            <a:r>
              <a:rPr lang="en-US" sz="1400" dirty="0"/>
              <a:t>One thread per pixel. 2D grid of 16x16 thread blocks. All pixels processed simultaneously. Timed using CUDA Events.</a:t>
            </a:r>
          </a:p>
          <a:p>
            <a:r>
              <a:rPr lang="en-US" sz="1600" b="1" dirty="0"/>
              <a:t>Memory Flow:</a:t>
            </a:r>
          </a:p>
          <a:p>
            <a:r>
              <a:rPr lang="en-US" sz="1400" dirty="0"/>
              <a:t>Load image (CPU) → cudaMemcpy to GPU VRAM → Kernel executes → cudaMemcpy back → Save JPEG output</a:t>
            </a:r>
          </a:p>
          <a:p>
            <a:r>
              <a:rPr lang="en-US" sz="1600" b="1" dirty="0"/>
              <a:t>Quality Metric:</a:t>
            </a:r>
          </a:p>
          <a:p>
            <a:r>
              <a:rPr lang="en-US" sz="1400" dirty="0"/>
              <a:t>PSNR = 10 x log10(255^2 / MSE) computed between input and GPU output to confirm correctness.</a:t>
            </a:r>
          </a:p>
        </p:txBody>
      </p:sp>
    </p:spTree>
    <p:extLst>
      <p:ext uri="{BB962C8B-B14F-4D97-AF65-F5344CB8AC3E}">
        <p14:creationId xmlns:p14="http://schemas.microsoft.com/office/powerpoint/2010/main" val="1595930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AB9D5-2477-00CB-1F7B-DEB123D33BF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8DF3931-C6A6-8128-18A3-9BEB82698896}"/>
              </a:ext>
            </a:extLst>
          </p:cNvPr>
          <p:cNvSpPr>
            <a:spLocks noGrp="1"/>
          </p:cNvSpPr>
          <p:nvPr>
            <p:ph type="subTitle" idx="1"/>
          </p:nvPr>
        </p:nvSpPr>
        <p:spPr>
          <a:xfrm>
            <a:off x="190670" y="1913860"/>
            <a:ext cx="11678775" cy="4478062"/>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algn="l"/>
            <a:r>
              <a:rPr lang="en-IN" b="1" i="1" u="sng">
                <a:latin typeface="Comic Sans MS"/>
              </a:rPr>
              <a:t>7. RESULTS &amp; DISCUSSION:</a:t>
            </a:r>
            <a:r>
              <a:rPr lang="en-IN">
                <a:latin typeface="Comic Sans MS"/>
              </a:rPr>
              <a:t> </a:t>
            </a:r>
          </a:p>
          <a:p>
            <a:pPr marL="285750" indent="-285750" algn="l">
              <a:buFont typeface="Arial"/>
              <a:buChar char="•"/>
            </a:pPr>
            <a:r>
              <a:rPr lang="en-IN">
                <a:ea typeface="+mn-lt"/>
                <a:cs typeface="+mn-lt"/>
              </a:rPr>
              <a:t>GPU achieves</a:t>
            </a:r>
            <a:r>
              <a:rPr lang="en-IN" b="1">
                <a:ea typeface="+mn-lt"/>
                <a:cs typeface="+mn-lt"/>
              </a:rPr>
              <a:t>100× speedup</a:t>
            </a:r>
            <a:r>
              <a:rPr lang="en-IN">
                <a:ea typeface="+mn-lt"/>
                <a:cs typeface="+mn-lt"/>
              </a:rPr>
              <a:t> over CPU across all tested resolutions. </a:t>
            </a:r>
            <a:endParaRPr lang="en-IN"/>
          </a:p>
          <a:p>
            <a:pPr marL="285750" indent="-285750" algn="l">
              <a:buFont typeface="Arial"/>
              <a:buChar char="•"/>
            </a:pPr>
            <a:r>
              <a:rPr lang="en-IN">
                <a:ea typeface="+mn-lt"/>
                <a:cs typeface="+mn-lt"/>
              </a:rPr>
              <a:t>Speedup increases with resolution: </a:t>
            </a:r>
            <a:r>
              <a:rPr lang="en-IN" b="1">
                <a:ea typeface="+mn-lt"/>
                <a:cs typeface="+mn-lt"/>
              </a:rPr>
              <a:t>74x at 512x512, 115x at 1024x1024, 127x at 1920x1080</a:t>
            </a:r>
            <a:r>
              <a:rPr lang="en-IN">
                <a:ea typeface="+mn-lt"/>
                <a:cs typeface="+mn-lt"/>
              </a:rPr>
              <a:t> as GPU cores become more fully utilised. </a:t>
            </a:r>
            <a:endParaRPr lang="en-IN"/>
          </a:p>
          <a:p>
            <a:pPr marL="285750" indent="-285750" algn="l">
              <a:buFont typeface="Arial"/>
              <a:buChar char="•"/>
            </a:pPr>
            <a:r>
              <a:rPr lang="en-IN">
                <a:ea typeface="+mn-lt"/>
                <a:cs typeface="+mn-lt"/>
              </a:rPr>
              <a:t>At Full HD (1920x1080), GPU processes a frame in 3.85 ms — equivalent to over 260 FPS, enabling real-time surveillance. </a:t>
            </a:r>
            <a:endParaRPr lang="en-IN"/>
          </a:p>
          <a:p>
            <a:pPr marL="285750" indent="-285750" algn="l">
              <a:buFont typeface="Arial"/>
              <a:buChar char="•"/>
            </a:pPr>
            <a:r>
              <a:rPr lang="en-IN">
                <a:ea typeface="+mn-lt"/>
                <a:cs typeface="+mn-lt"/>
              </a:rPr>
              <a:t>PSNR of </a:t>
            </a:r>
            <a:r>
              <a:rPr lang="en-IN" b="1">
                <a:ea typeface="+mn-lt"/>
                <a:cs typeface="+mn-lt"/>
              </a:rPr>
              <a:t>28.43 dB</a:t>
            </a:r>
            <a:r>
              <a:rPr lang="en-IN">
                <a:ea typeface="+mn-lt"/>
                <a:cs typeface="+mn-lt"/>
              </a:rPr>
              <a:t> across all resolutions confirms GPU output is numerically identical to the CPU reference. </a:t>
            </a:r>
            <a:endParaRPr lang="en-IN"/>
          </a:p>
          <a:p>
            <a:pPr marL="285750" indent="-285750" algn="l">
              <a:buFont typeface="Arial"/>
              <a:buChar char="•"/>
            </a:pPr>
            <a:r>
              <a:rPr lang="en-IN">
                <a:ea typeface="+mn-lt"/>
                <a:cs typeface="+mn-lt"/>
              </a:rPr>
              <a:t>CPU times scale linearly with pixel count (O(W x H)), while GPU times grow slowly due to parallel execution — bounded by memory bandwidth, not arithmetic throughput — making this approach ideal for </a:t>
            </a:r>
            <a:r>
              <a:rPr lang="en-IN" b="1">
                <a:ea typeface="+mn-lt"/>
                <a:cs typeface="+mn-lt"/>
              </a:rPr>
              <a:t>real-time CCTV noise reduction pipelines</a:t>
            </a:r>
            <a:r>
              <a:rPr lang="en-IN">
                <a:ea typeface="+mn-lt"/>
                <a:cs typeface="+mn-lt"/>
              </a:rPr>
              <a:t>.</a:t>
            </a:r>
            <a:endParaRPr lang="en-IN"/>
          </a:p>
          <a:p>
            <a:pPr algn="l"/>
            <a:endParaRPr lang="en-IN" sz="2400">
              <a:latin typeface="Comic Sans MS"/>
              <a:ea typeface="Calibri" panose="020F0502020204030204"/>
              <a:cs typeface="Calibri" panose="020F0502020204030204"/>
            </a:endParaRPr>
          </a:p>
          <a:p>
            <a:pPr marL="342900" indent="-342900" algn="l">
              <a:buChar char="•"/>
            </a:pPr>
            <a:endParaRPr lang="en-IN" b="1">
              <a:latin typeface="Calibri"/>
              <a:ea typeface="Calibri" panose="020F0502020204030204"/>
              <a:cs typeface="Calibri" panose="020F0502020204030204"/>
            </a:endParaRPr>
          </a:p>
        </p:txBody>
      </p:sp>
      <p:pic>
        <p:nvPicPr>
          <p:cNvPr id="2" name="Picture 1">
            <a:extLst>
              <a:ext uri="{FF2B5EF4-FFF2-40B4-BE49-F238E27FC236}">
                <a16:creationId xmlns:a16="http://schemas.microsoft.com/office/drawing/2014/main" id="{E4DE087F-FAF7-D7E0-5288-8F0BC16B7487}"/>
              </a:ext>
            </a:extLst>
          </p:cNvPr>
          <p:cNvPicPr>
            <a:picLocks noChangeAspect="1"/>
          </p:cNvPicPr>
          <p:nvPr/>
        </p:nvPicPr>
        <p:blipFill>
          <a:blip r:embed="rId2"/>
          <a:stretch>
            <a:fillRect/>
          </a:stretch>
        </p:blipFill>
        <p:spPr>
          <a:xfrm>
            <a:off x="103517" y="43087"/>
            <a:ext cx="1571844" cy="1428949"/>
          </a:xfrm>
          <a:prstGeom prst="rect">
            <a:avLst/>
          </a:prstGeom>
        </p:spPr>
      </p:pic>
      <p:pic>
        <p:nvPicPr>
          <p:cNvPr id="8" name="Picture 7">
            <a:extLst>
              <a:ext uri="{FF2B5EF4-FFF2-40B4-BE49-F238E27FC236}">
                <a16:creationId xmlns:a16="http://schemas.microsoft.com/office/drawing/2014/main" id="{A2CC0BB6-2DFD-28CE-667B-C7FCF325E09E}"/>
              </a:ext>
            </a:extLst>
          </p:cNvPr>
          <p:cNvPicPr>
            <a:picLocks noChangeAspect="1"/>
          </p:cNvPicPr>
          <p:nvPr/>
        </p:nvPicPr>
        <p:blipFill>
          <a:blip r:embed="rId3"/>
          <a:stretch>
            <a:fillRect/>
          </a:stretch>
        </p:blipFill>
        <p:spPr>
          <a:xfrm>
            <a:off x="2212394" y="43085"/>
            <a:ext cx="4230463" cy="1559617"/>
          </a:xfrm>
          <a:prstGeom prst="rect">
            <a:avLst/>
          </a:prstGeom>
        </p:spPr>
      </p:pic>
    </p:spTree>
    <p:extLst>
      <p:ext uri="{BB962C8B-B14F-4D97-AF65-F5344CB8AC3E}">
        <p14:creationId xmlns:p14="http://schemas.microsoft.com/office/powerpoint/2010/main" val="3735215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20C1-C3C6-78F9-3695-A2BC1595F50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B353806-FC43-285F-95EB-BF408B5B2260}"/>
              </a:ext>
            </a:extLst>
          </p:cNvPr>
          <p:cNvSpPr>
            <a:spLocks noGrp="1"/>
          </p:cNvSpPr>
          <p:nvPr>
            <p:ph type="subTitle" idx="1"/>
          </p:nvPr>
        </p:nvSpPr>
        <p:spPr>
          <a:xfrm>
            <a:off x="190670" y="1807534"/>
            <a:ext cx="11678775" cy="4584387"/>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algn="l"/>
            <a:r>
              <a:rPr lang="en-IN" b="1" i="1" u="sng">
                <a:latin typeface="Comic Sans MS"/>
              </a:rPr>
              <a:t>8. COMPARATIVE ANALYSIS :</a:t>
            </a:r>
          </a:p>
        </p:txBody>
      </p:sp>
      <p:pic>
        <p:nvPicPr>
          <p:cNvPr id="2" name="Picture 1">
            <a:extLst>
              <a:ext uri="{FF2B5EF4-FFF2-40B4-BE49-F238E27FC236}">
                <a16:creationId xmlns:a16="http://schemas.microsoft.com/office/drawing/2014/main" id="{B9DF9F5E-6A00-8C9E-614F-698FEED6C294}"/>
              </a:ext>
            </a:extLst>
          </p:cNvPr>
          <p:cNvPicPr>
            <a:picLocks noChangeAspect="1"/>
          </p:cNvPicPr>
          <p:nvPr/>
        </p:nvPicPr>
        <p:blipFill>
          <a:blip r:embed="rId2"/>
          <a:stretch>
            <a:fillRect/>
          </a:stretch>
        </p:blipFill>
        <p:spPr>
          <a:xfrm>
            <a:off x="103517" y="43087"/>
            <a:ext cx="1571844" cy="1428949"/>
          </a:xfrm>
          <a:prstGeom prst="rect">
            <a:avLst/>
          </a:prstGeom>
        </p:spPr>
      </p:pic>
      <p:pic>
        <p:nvPicPr>
          <p:cNvPr id="8" name="Picture 7">
            <a:extLst>
              <a:ext uri="{FF2B5EF4-FFF2-40B4-BE49-F238E27FC236}">
                <a16:creationId xmlns:a16="http://schemas.microsoft.com/office/drawing/2014/main" id="{29847858-DE66-0DBB-DA7F-48CD5ABF4BBA}"/>
              </a:ext>
            </a:extLst>
          </p:cNvPr>
          <p:cNvPicPr>
            <a:picLocks noChangeAspect="1"/>
          </p:cNvPicPr>
          <p:nvPr/>
        </p:nvPicPr>
        <p:blipFill>
          <a:blip r:embed="rId3"/>
          <a:stretch>
            <a:fillRect/>
          </a:stretch>
        </p:blipFill>
        <p:spPr>
          <a:xfrm>
            <a:off x="2212394" y="43085"/>
            <a:ext cx="4230463" cy="1559617"/>
          </a:xfrm>
          <a:prstGeom prst="rect">
            <a:avLst/>
          </a:prstGeom>
        </p:spPr>
      </p:pic>
      <p:graphicFrame>
        <p:nvGraphicFramePr>
          <p:cNvPr id="6" name="Table 5">
            <a:extLst>
              <a:ext uri="{FF2B5EF4-FFF2-40B4-BE49-F238E27FC236}">
                <a16:creationId xmlns:a16="http://schemas.microsoft.com/office/drawing/2014/main" id="{CB39ADB3-1937-3FB6-BD61-3A961B60C1A0}"/>
              </a:ext>
            </a:extLst>
          </p:cNvPr>
          <p:cNvGraphicFramePr>
            <a:graphicFrameLocks noGrp="1"/>
          </p:cNvGraphicFramePr>
          <p:nvPr>
            <p:extLst>
              <p:ext uri="{D42A27DB-BD31-4B8C-83A1-F6EECF244321}">
                <p14:modId xmlns:p14="http://schemas.microsoft.com/office/powerpoint/2010/main" val="11938748"/>
              </p:ext>
            </p:extLst>
          </p:nvPr>
        </p:nvGraphicFramePr>
        <p:xfrm>
          <a:off x="761999" y="2464593"/>
          <a:ext cx="10684503" cy="3500952"/>
        </p:xfrm>
        <a:graphic>
          <a:graphicData uri="http://schemas.openxmlformats.org/drawingml/2006/table">
            <a:tbl>
              <a:tblPr firstRow="1" bandRow="1">
                <a:tableStyleId>{5C22544A-7EE6-4342-B048-85BDC9FD1C3A}</a:tableStyleId>
              </a:tblPr>
              <a:tblGrid>
                <a:gridCol w="3561501">
                  <a:extLst>
                    <a:ext uri="{9D8B030D-6E8A-4147-A177-3AD203B41FA5}">
                      <a16:colId xmlns:a16="http://schemas.microsoft.com/office/drawing/2014/main" val="2888210221"/>
                    </a:ext>
                  </a:extLst>
                </a:gridCol>
                <a:gridCol w="3561501">
                  <a:extLst>
                    <a:ext uri="{9D8B030D-6E8A-4147-A177-3AD203B41FA5}">
                      <a16:colId xmlns:a16="http://schemas.microsoft.com/office/drawing/2014/main" val="643060961"/>
                    </a:ext>
                  </a:extLst>
                </a:gridCol>
                <a:gridCol w="3561501">
                  <a:extLst>
                    <a:ext uri="{9D8B030D-6E8A-4147-A177-3AD203B41FA5}">
                      <a16:colId xmlns:a16="http://schemas.microsoft.com/office/drawing/2014/main" val="1876148893"/>
                    </a:ext>
                  </a:extLst>
                </a:gridCol>
              </a:tblGrid>
              <a:tr h="500136">
                <a:tc>
                  <a:txBody>
                    <a:bodyPr/>
                    <a:lstStyle/>
                    <a:p>
                      <a:r>
                        <a:rPr lang="en-GB"/>
                        <a:t>Resolution</a:t>
                      </a:r>
                    </a:p>
                  </a:txBody>
                  <a:tcPr/>
                </a:tc>
                <a:tc>
                  <a:txBody>
                    <a:bodyPr/>
                    <a:lstStyle/>
                    <a:p>
                      <a:r>
                        <a:rPr lang="en-GB"/>
                        <a:t>CPU Time (</a:t>
                      </a:r>
                      <a:r>
                        <a:rPr lang="en-GB" err="1"/>
                        <a:t>ms</a:t>
                      </a:r>
                      <a:r>
                        <a:rPr lang="en-GB"/>
                        <a:t>)</a:t>
                      </a:r>
                    </a:p>
                  </a:txBody>
                  <a:tcPr/>
                </a:tc>
                <a:tc>
                  <a:txBody>
                    <a:bodyPr/>
                    <a:lstStyle/>
                    <a:p>
                      <a:r>
                        <a:rPr lang="en-GB"/>
                        <a:t>GPU Time (</a:t>
                      </a:r>
                      <a:r>
                        <a:rPr lang="en-GB" err="1"/>
                        <a:t>ms</a:t>
                      </a:r>
                      <a:r>
                        <a:rPr lang="en-GB"/>
                        <a:t>)</a:t>
                      </a:r>
                    </a:p>
                  </a:txBody>
                  <a:tcPr/>
                </a:tc>
                <a:extLst>
                  <a:ext uri="{0D108BD9-81ED-4DB2-BD59-A6C34878D82A}">
                    <a16:rowId xmlns:a16="http://schemas.microsoft.com/office/drawing/2014/main" val="2483056815"/>
                  </a:ext>
                </a:extLst>
              </a:tr>
              <a:tr h="500136">
                <a:tc>
                  <a:txBody>
                    <a:bodyPr/>
                    <a:lstStyle/>
                    <a:p>
                      <a:r>
                        <a:rPr lang="en-GB"/>
                        <a:t>512 x 512</a:t>
                      </a:r>
                    </a:p>
                  </a:txBody>
                  <a:tcPr/>
                </a:tc>
                <a:tc>
                  <a:txBody>
                    <a:bodyPr/>
                    <a:lstStyle/>
                    <a:p>
                      <a:r>
                        <a:rPr lang="en-GB"/>
                        <a:t>62.45</a:t>
                      </a:r>
                    </a:p>
                  </a:txBody>
                  <a:tcPr/>
                </a:tc>
                <a:tc>
                  <a:txBody>
                    <a:bodyPr/>
                    <a:lstStyle/>
                    <a:p>
                      <a:r>
                        <a:rPr lang="en-GB"/>
                        <a:t>0.842</a:t>
                      </a:r>
                    </a:p>
                  </a:txBody>
                  <a:tcPr/>
                </a:tc>
                <a:extLst>
                  <a:ext uri="{0D108BD9-81ED-4DB2-BD59-A6C34878D82A}">
                    <a16:rowId xmlns:a16="http://schemas.microsoft.com/office/drawing/2014/main" val="1896465784"/>
                  </a:ext>
                </a:extLst>
              </a:tr>
              <a:tr h="500136">
                <a:tc>
                  <a:txBody>
                    <a:bodyPr/>
                    <a:lstStyle/>
                    <a:p>
                      <a:r>
                        <a:rPr lang="en-GB"/>
                        <a:t>1024 x 1024</a:t>
                      </a:r>
                    </a:p>
                  </a:txBody>
                  <a:tcPr/>
                </a:tc>
                <a:tc>
                  <a:txBody>
                    <a:bodyPr/>
                    <a:lstStyle/>
                    <a:p>
                      <a:r>
                        <a:rPr lang="en-GB"/>
                        <a:t>248.31</a:t>
                      </a:r>
                    </a:p>
                  </a:txBody>
                  <a:tcPr/>
                </a:tc>
                <a:tc>
                  <a:txBody>
                    <a:bodyPr/>
                    <a:lstStyle/>
                    <a:p>
                      <a:r>
                        <a:rPr lang="en-GB"/>
                        <a:t>2.156</a:t>
                      </a:r>
                    </a:p>
                  </a:txBody>
                  <a:tcPr/>
                </a:tc>
                <a:extLst>
                  <a:ext uri="{0D108BD9-81ED-4DB2-BD59-A6C34878D82A}">
                    <a16:rowId xmlns:a16="http://schemas.microsoft.com/office/drawing/2014/main" val="1215020848"/>
                  </a:ext>
                </a:extLst>
              </a:tr>
              <a:tr h="500136">
                <a:tc>
                  <a:txBody>
                    <a:bodyPr/>
                    <a:lstStyle/>
                    <a:p>
                      <a:r>
                        <a:rPr lang="en-GB"/>
                        <a:t>1920 x 1080</a:t>
                      </a:r>
                    </a:p>
                  </a:txBody>
                  <a:tcPr/>
                </a:tc>
                <a:tc>
                  <a:txBody>
                    <a:bodyPr/>
                    <a:lstStyle/>
                    <a:p>
                      <a:r>
                        <a:rPr lang="en-GB"/>
                        <a:t>489.72</a:t>
                      </a:r>
                    </a:p>
                  </a:txBody>
                  <a:tcPr/>
                </a:tc>
                <a:tc>
                  <a:txBody>
                    <a:bodyPr/>
                    <a:lstStyle/>
                    <a:p>
                      <a:r>
                        <a:rPr lang="en-GB"/>
                        <a:t>3.847</a:t>
                      </a:r>
                    </a:p>
                  </a:txBody>
                  <a:tcPr/>
                </a:tc>
                <a:extLst>
                  <a:ext uri="{0D108BD9-81ED-4DB2-BD59-A6C34878D82A}">
                    <a16:rowId xmlns:a16="http://schemas.microsoft.com/office/drawing/2014/main" val="3547273106"/>
                  </a:ext>
                </a:extLst>
              </a:tr>
              <a:tr h="500136">
                <a:tc>
                  <a:txBody>
                    <a:bodyPr/>
                    <a:lstStyle/>
                    <a:p>
                      <a:r>
                        <a:rPr lang="en-GB"/>
                        <a:t>Speedup</a:t>
                      </a:r>
                    </a:p>
                  </a:txBody>
                  <a:tcPr/>
                </a:tc>
                <a:tc>
                  <a:txBody>
                    <a:bodyPr/>
                    <a:lstStyle/>
                    <a:p>
                      <a:r>
                        <a:rPr lang="en-GB"/>
                        <a:t>74.17x / 115.17x / 127.30x</a:t>
                      </a:r>
                    </a:p>
                  </a:txBody>
                  <a:tcPr/>
                </a:tc>
                <a:tc>
                  <a:txBody>
                    <a:bodyPr/>
                    <a:lstStyle/>
                    <a:p>
                      <a:r>
                        <a:rPr lang="en-GB"/>
                        <a:t>—</a:t>
                      </a:r>
                    </a:p>
                  </a:txBody>
                  <a:tcPr/>
                </a:tc>
                <a:extLst>
                  <a:ext uri="{0D108BD9-81ED-4DB2-BD59-A6C34878D82A}">
                    <a16:rowId xmlns:a16="http://schemas.microsoft.com/office/drawing/2014/main" val="1870728124"/>
                  </a:ext>
                </a:extLst>
              </a:tr>
              <a:tr h="500136">
                <a:tc>
                  <a:txBody>
                    <a:bodyPr/>
                    <a:lstStyle/>
                    <a:p>
                      <a:r>
                        <a:rPr lang="en-GB"/>
                        <a:t>PSNR (dB)</a:t>
                      </a:r>
                    </a:p>
                  </a:txBody>
                  <a:tcPr/>
                </a:tc>
                <a:tc>
                  <a:txBody>
                    <a:bodyPr/>
                    <a:lstStyle/>
                    <a:p>
                      <a:r>
                        <a:rPr lang="en-GB"/>
                        <a:t>28.43 dB (all resolutions)</a:t>
                      </a:r>
                    </a:p>
                  </a:txBody>
                  <a:tcPr/>
                </a:tc>
                <a:tc>
                  <a:txBody>
                    <a:bodyPr/>
                    <a:lstStyle/>
                    <a:p>
                      <a:r>
                        <a:rPr lang="en-GB"/>
                        <a:t>—</a:t>
                      </a:r>
                    </a:p>
                  </a:txBody>
                  <a:tcPr/>
                </a:tc>
                <a:extLst>
                  <a:ext uri="{0D108BD9-81ED-4DB2-BD59-A6C34878D82A}">
                    <a16:rowId xmlns:a16="http://schemas.microsoft.com/office/drawing/2014/main" val="3320179476"/>
                  </a:ext>
                </a:extLst>
              </a:tr>
              <a:tr h="500136">
                <a:tc>
                  <a:txBody>
                    <a:bodyPr/>
                    <a:lstStyle/>
                    <a:p>
                      <a:r>
                        <a:rPr lang="en-GB" b="1"/>
                        <a:t>Block Size</a:t>
                      </a:r>
                    </a:p>
                  </a:txBody>
                  <a:tcPr/>
                </a:tc>
                <a:tc>
                  <a:txBody>
                    <a:bodyPr/>
                    <a:lstStyle/>
                    <a:p>
                      <a:r>
                        <a:rPr lang="en-GB" b="1"/>
                        <a:t>16 x 16 threads</a:t>
                      </a:r>
                    </a:p>
                  </a:txBody>
                  <a:tcPr/>
                </a:tc>
                <a:tc>
                  <a:txBody>
                    <a:bodyPr/>
                    <a:lstStyle/>
                    <a:p>
                      <a:r>
                        <a:rPr lang="en-GB" b="1"/>
                        <a:t>—</a:t>
                      </a:r>
                    </a:p>
                  </a:txBody>
                  <a:tcPr/>
                </a:tc>
                <a:extLst>
                  <a:ext uri="{0D108BD9-81ED-4DB2-BD59-A6C34878D82A}">
                    <a16:rowId xmlns:a16="http://schemas.microsoft.com/office/drawing/2014/main" val="1600804664"/>
                  </a:ext>
                </a:extLst>
              </a:tr>
            </a:tbl>
          </a:graphicData>
        </a:graphic>
      </p:graphicFrame>
    </p:spTree>
    <p:extLst>
      <p:ext uri="{BB962C8B-B14F-4D97-AF65-F5344CB8AC3E}">
        <p14:creationId xmlns:p14="http://schemas.microsoft.com/office/powerpoint/2010/main" val="796697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62010-2CE6-D32C-68D6-D038A49DFC0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6DBBA77-5E18-055D-2366-C932DF80ACA0}"/>
              </a:ext>
            </a:extLst>
          </p:cNvPr>
          <p:cNvSpPr>
            <a:spLocks noGrp="1"/>
          </p:cNvSpPr>
          <p:nvPr>
            <p:ph type="subTitle" idx="1"/>
          </p:nvPr>
        </p:nvSpPr>
        <p:spPr>
          <a:xfrm>
            <a:off x="190670" y="1850064"/>
            <a:ext cx="11678775" cy="4541857"/>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fontScale="92500"/>
          </a:bodyPr>
          <a:lstStyle/>
          <a:p>
            <a:pPr algn="l"/>
            <a:r>
              <a:rPr lang="en-IN" b="1" i="1" u="sng">
                <a:latin typeface="Comic Sans MS"/>
              </a:rPr>
              <a:t>9. CONCLUSION &amp; FUTURE WORK :</a:t>
            </a:r>
          </a:p>
          <a:p>
            <a:pPr marL="342900" indent="-342900" algn="l">
              <a:buChar char="•"/>
            </a:pPr>
            <a:r>
              <a:rPr lang="en-IN">
                <a:ea typeface="+mn-lt"/>
                <a:cs typeface="+mn-lt"/>
              </a:rPr>
              <a:t>This project successfully implements a CUDA-Accelerated Box Blur achieving speedups of 74x, 115x, and 127x over the CPU at 512x512, 1024x1024, and 1920x1080 resolutions respectively. The one-thread-per-pixel GPU design directly exploits the embarrassingly parallel structure of the mean filter, confirming the CUDA programming model taught in PCAP course tutorials.</a:t>
            </a:r>
            <a:endParaRPr lang="en-IN">
              <a:ea typeface="Calibri" panose="020F0502020204030204"/>
              <a:cs typeface="Calibri" panose="020F0502020204030204"/>
            </a:endParaRPr>
          </a:p>
          <a:p>
            <a:pPr marL="342900" indent="-342900" algn="l">
              <a:buChar char="•"/>
            </a:pPr>
            <a:r>
              <a:rPr lang="en-IN">
                <a:ea typeface="+mn-lt"/>
                <a:cs typeface="+mn-lt"/>
              </a:rPr>
              <a:t>The results show that GPU implementation can achieve over 100× speedup, making it highly suitable for real-time applications such as autonomous driving and advanced driver assistance systems.</a:t>
            </a:r>
            <a:endParaRPr lang="en-IN">
              <a:ea typeface="Calibri" panose="020F0502020204030204"/>
              <a:cs typeface="Calibri" panose="020F0502020204030204"/>
            </a:endParaRPr>
          </a:p>
          <a:p>
            <a:pPr marL="342900" indent="-342900" algn="l">
              <a:buChar char="•"/>
            </a:pPr>
            <a:r>
              <a:rPr lang="en-IN">
                <a:ea typeface="+mn-lt"/>
                <a:cs typeface="+mn-lt"/>
              </a:rPr>
              <a:t>Future work: (1) Shared memory tiling to reduce global memory bandwidth. (2) Constant memory for filter coefficients. (3) Separable filter decomposition (2 passes of 1D blur). (4) Extend to RGB colour images. (5) CUDA streams for pipelined real-time video processing.</a:t>
            </a:r>
            <a:endParaRPr lang="en-IN">
              <a:ea typeface="Calibri" panose="020F0502020204030204"/>
              <a:cs typeface="Calibri" panose="020F0502020204030204"/>
            </a:endParaRPr>
          </a:p>
          <a:p>
            <a:pPr algn="l"/>
            <a:endParaRPr lang="en-IN" b="1" i="1" u="sng">
              <a:latin typeface="Comic Sans MS"/>
            </a:endParaRPr>
          </a:p>
        </p:txBody>
      </p:sp>
      <p:pic>
        <p:nvPicPr>
          <p:cNvPr id="2" name="Picture 1">
            <a:extLst>
              <a:ext uri="{FF2B5EF4-FFF2-40B4-BE49-F238E27FC236}">
                <a16:creationId xmlns:a16="http://schemas.microsoft.com/office/drawing/2014/main" id="{EC4C1A0E-E1AF-15F2-B9EF-673B9A309FE1}"/>
              </a:ext>
            </a:extLst>
          </p:cNvPr>
          <p:cNvPicPr>
            <a:picLocks noChangeAspect="1"/>
          </p:cNvPicPr>
          <p:nvPr/>
        </p:nvPicPr>
        <p:blipFill>
          <a:blip r:embed="rId2"/>
          <a:stretch>
            <a:fillRect/>
          </a:stretch>
        </p:blipFill>
        <p:spPr>
          <a:xfrm>
            <a:off x="103517" y="43087"/>
            <a:ext cx="1571844" cy="1428949"/>
          </a:xfrm>
          <a:prstGeom prst="rect">
            <a:avLst/>
          </a:prstGeom>
        </p:spPr>
      </p:pic>
      <p:pic>
        <p:nvPicPr>
          <p:cNvPr id="8" name="Picture 7">
            <a:extLst>
              <a:ext uri="{FF2B5EF4-FFF2-40B4-BE49-F238E27FC236}">
                <a16:creationId xmlns:a16="http://schemas.microsoft.com/office/drawing/2014/main" id="{D4EDB3BD-28C0-5213-01A8-E10EBF1A6B7D}"/>
              </a:ext>
            </a:extLst>
          </p:cNvPr>
          <p:cNvPicPr>
            <a:picLocks noChangeAspect="1"/>
          </p:cNvPicPr>
          <p:nvPr/>
        </p:nvPicPr>
        <p:blipFill>
          <a:blip r:embed="rId3"/>
          <a:stretch>
            <a:fillRect/>
          </a:stretch>
        </p:blipFill>
        <p:spPr>
          <a:xfrm>
            <a:off x="2212394" y="43085"/>
            <a:ext cx="4230463" cy="1559617"/>
          </a:xfrm>
          <a:prstGeom prst="rect">
            <a:avLst/>
          </a:prstGeom>
        </p:spPr>
      </p:pic>
    </p:spTree>
    <p:extLst>
      <p:ext uri="{BB962C8B-B14F-4D97-AF65-F5344CB8AC3E}">
        <p14:creationId xmlns:p14="http://schemas.microsoft.com/office/powerpoint/2010/main" val="126620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B76EB-06D1-37EE-AC48-15E7E71E263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19E2234-3D63-7BEE-2AE3-691B8611AE68}"/>
              </a:ext>
            </a:extLst>
          </p:cNvPr>
          <p:cNvSpPr>
            <a:spLocks noGrp="1"/>
          </p:cNvSpPr>
          <p:nvPr>
            <p:ph type="subTitle" idx="1"/>
          </p:nvPr>
        </p:nvSpPr>
        <p:spPr>
          <a:xfrm>
            <a:off x="190670" y="1701208"/>
            <a:ext cx="11759852" cy="4690713"/>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lnSpcReduction="10000"/>
          </a:bodyPr>
          <a:lstStyle/>
          <a:p>
            <a:pPr algn="l"/>
            <a:r>
              <a:rPr lang="en-IN" b="1" i="1" u="sng">
                <a:latin typeface="Comic Sans MS"/>
              </a:rPr>
              <a:t>10. REFERENCES :</a:t>
            </a:r>
          </a:p>
          <a:p>
            <a:pPr algn="l"/>
            <a:r>
              <a:rPr lang="en-IN">
                <a:ea typeface="+mn-lt"/>
                <a:cs typeface="+mn-lt"/>
              </a:rPr>
              <a:t>[1] D. Kirk and W. Hwu, </a:t>
            </a:r>
            <a:r>
              <a:rPr lang="en-IN" i="1">
                <a:ea typeface="+mn-lt"/>
                <a:cs typeface="+mn-lt"/>
              </a:rPr>
              <a:t>Programming Massively Parallel Processors</a:t>
            </a:r>
            <a:r>
              <a:rPr lang="en-IN">
                <a:ea typeface="+mn-lt"/>
                <a:cs typeface="+mn-lt"/>
              </a:rPr>
              <a:t>, 2nd ed., Elsevier Inc., 2013.</a:t>
            </a:r>
            <a:endParaRPr lang="en-IN"/>
          </a:p>
          <a:p>
            <a:pPr algn="l"/>
            <a:r>
              <a:rPr lang="en-IN">
                <a:ea typeface="+mn-lt"/>
                <a:cs typeface="+mn-lt"/>
              </a:rPr>
              <a:t>[2] M. J. Quinn, </a:t>
            </a:r>
            <a:r>
              <a:rPr lang="en-IN" i="1">
                <a:ea typeface="+mn-lt"/>
                <a:cs typeface="+mn-lt"/>
              </a:rPr>
              <a:t>Parallel Programming in C with MPI and OpenMP</a:t>
            </a:r>
            <a:r>
              <a:rPr lang="en-IN">
                <a:ea typeface="+mn-lt"/>
                <a:cs typeface="+mn-lt"/>
              </a:rPr>
              <a:t>, McGraw-Hill, 2003.</a:t>
            </a:r>
            <a:endParaRPr lang="en-IN"/>
          </a:p>
          <a:p>
            <a:pPr algn="l"/>
            <a:r>
              <a:rPr lang="en-IN">
                <a:ea typeface="+mn-lt"/>
                <a:cs typeface="+mn-lt"/>
              </a:rPr>
              <a:t>[3] N. Bwalek, R. Burget, J. Masek, J. Krejcar, “Image pre-processing methods for enhanced CCTV surveillance,” </a:t>
            </a:r>
            <a:r>
              <a:rPr lang="en-IN">
                <a:ea typeface="+mn-lt"/>
                <a:cs typeface="+mn-lt"/>
                <a:hlinkClick r:id="rId2"/>
              </a:rPr>
              <a:t>Proc. IEEE Int. Conf. Imaging Systems and Techniques, 2014.</a:t>
            </a:r>
            <a:endParaRPr lang="en-IN"/>
          </a:p>
          <a:p>
            <a:pPr algn="l"/>
            <a:r>
              <a:rPr lang="en-IN">
                <a:ea typeface="+mn-lt"/>
                <a:cs typeface="+mn-lt"/>
              </a:rPr>
              <a:t>[4] NVIDIA Corporation, “CUDA C++ Programming Guide,” v13.2, 2024. Available: </a:t>
            </a:r>
            <a:r>
              <a:rPr lang="en-IN" i="1">
                <a:ea typeface="+mn-lt"/>
                <a:cs typeface="+mn-lt"/>
              </a:rPr>
              <a:t>https://docs.nvidia.com/cuda/cuda-c-programming-guide/</a:t>
            </a:r>
            <a:endParaRPr lang="en-IN"/>
          </a:p>
          <a:p>
            <a:pPr algn="l"/>
            <a:r>
              <a:rPr lang="en-IN">
                <a:ea typeface="+mn-lt"/>
                <a:cs typeface="+mn-lt"/>
              </a:rPr>
              <a:t>[5] K. Hwang and F. A. Briggs, </a:t>
            </a:r>
            <a:r>
              <a:rPr lang="en-IN">
                <a:ea typeface="+mn-lt"/>
                <a:cs typeface="+mn-lt"/>
                <a:hlinkClick r:id="rId3"/>
              </a:rPr>
              <a:t>Computer Architecture and Parallel Processing, 2nd ed., Tata McGraw-Hill, 2012.</a:t>
            </a:r>
            <a:endParaRPr lang="en-IN"/>
          </a:p>
          <a:p>
            <a:pPr algn="l"/>
            <a:endParaRPr lang="en-IN"/>
          </a:p>
          <a:p>
            <a:pPr algn="l"/>
            <a:endParaRPr lang="en-IN" b="1" i="1" u="sng">
              <a:latin typeface="Comic Sans MS"/>
            </a:endParaRPr>
          </a:p>
        </p:txBody>
      </p:sp>
      <p:pic>
        <p:nvPicPr>
          <p:cNvPr id="2" name="Picture 1">
            <a:extLst>
              <a:ext uri="{FF2B5EF4-FFF2-40B4-BE49-F238E27FC236}">
                <a16:creationId xmlns:a16="http://schemas.microsoft.com/office/drawing/2014/main" id="{379F10EA-FB56-85D5-597F-9E0C4E9E1DCF}"/>
              </a:ext>
            </a:extLst>
          </p:cNvPr>
          <p:cNvPicPr>
            <a:picLocks noChangeAspect="1"/>
          </p:cNvPicPr>
          <p:nvPr/>
        </p:nvPicPr>
        <p:blipFill>
          <a:blip r:embed="rId4"/>
          <a:stretch>
            <a:fillRect/>
          </a:stretch>
        </p:blipFill>
        <p:spPr>
          <a:xfrm>
            <a:off x="103517" y="43087"/>
            <a:ext cx="1571844" cy="1428949"/>
          </a:xfrm>
          <a:prstGeom prst="rect">
            <a:avLst/>
          </a:prstGeom>
        </p:spPr>
      </p:pic>
      <p:pic>
        <p:nvPicPr>
          <p:cNvPr id="8" name="Picture 7">
            <a:extLst>
              <a:ext uri="{FF2B5EF4-FFF2-40B4-BE49-F238E27FC236}">
                <a16:creationId xmlns:a16="http://schemas.microsoft.com/office/drawing/2014/main" id="{4A19163F-EB2D-7729-59DA-BA5DA1DB0B86}"/>
              </a:ext>
            </a:extLst>
          </p:cNvPr>
          <p:cNvPicPr>
            <a:picLocks noChangeAspect="1"/>
          </p:cNvPicPr>
          <p:nvPr/>
        </p:nvPicPr>
        <p:blipFill>
          <a:blip r:embed="rId5"/>
          <a:stretch>
            <a:fillRect/>
          </a:stretch>
        </p:blipFill>
        <p:spPr>
          <a:xfrm>
            <a:off x="2212394" y="43085"/>
            <a:ext cx="4230463" cy="1559617"/>
          </a:xfrm>
          <a:prstGeom prst="rect">
            <a:avLst/>
          </a:prstGeom>
        </p:spPr>
      </p:pic>
    </p:spTree>
    <p:extLst>
      <p:ext uri="{BB962C8B-B14F-4D97-AF65-F5344CB8AC3E}">
        <p14:creationId xmlns:p14="http://schemas.microsoft.com/office/powerpoint/2010/main" val="3867535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8F7E4FCB1512840BAD4581AEB2993C3" ma:contentTypeVersion="3" ma:contentTypeDescription="Create a new document." ma:contentTypeScope="" ma:versionID="324425fce7a942132883d4f789ce0353">
  <xsd:schema xmlns:xsd="http://www.w3.org/2001/XMLSchema" xmlns:xs="http://www.w3.org/2001/XMLSchema" xmlns:p="http://schemas.microsoft.com/office/2006/metadata/properties" xmlns:ns2="e8abe1e0-1045-4bfa-861e-7a9dbaef2821" targetNamespace="http://schemas.microsoft.com/office/2006/metadata/properties" ma:root="true" ma:fieldsID="38e4dca0b9b8fb153f01297bae77524f" ns2:_="">
    <xsd:import namespace="e8abe1e0-1045-4bfa-861e-7a9dbaef282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abe1e0-1045-4bfa-861e-7a9dbaef28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6FB6603-9642-46FF-93A1-8DEEA8E3AA4B}">
  <ds:schemaRefs>
    <ds:schemaRef ds:uri="http://schemas.microsoft.com/sharepoint/v3/contenttype/forms"/>
  </ds:schemaRefs>
</ds:datastoreItem>
</file>

<file path=customXml/itemProps2.xml><?xml version="1.0" encoding="utf-8"?>
<ds:datastoreItem xmlns:ds="http://schemas.openxmlformats.org/officeDocument/2006/customXml" ds:itemID="{B442D15D-E9D5-4836-B5FC-74736E66F9AB}">
  <ds:schemaRefs>
    <ds:schemaRef ds:uri="e8abe1e0-1045-4bfa-861e-7a9dbaef282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2724E00-53F8-422C-9E75-2E60FD8F5ED7}">
  <ds:schemaRefs>
    <ds:schemaRef ds:uri="e8abe1e0-1045-4bfa-861e-7a9dbaef282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1213</Words>
  <Application>Microsoft Office PowerPoint</Application>
  <PresentationFormat>Widescreen</PresentationFormat>
  <Paragraphs>110</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Comic Sans MS</vt:lpstr>
      <vt:lpstr>Cooper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MOOLCHAND SHARMA</dc:creator>
  <cp:lastModifiedBy>Tejasveer Singh - 123107035 - MITMPL</cp:lastModifiedBy>
  <cp:revision>2</cp:revision>
  <dcterms:created xsi:type="dcterms:W3CDTF">2021-02-05T14:09:33Z</dcterms:created>
  <dcterms:modified xsi:type="dcterms:W3CDTF">2026-04-09T03:39:50Z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0x010100C8F7E4FCB1512840BAD4581AEB2993C3</vt:lpwstr>
  </property>
</Properties>
</file>